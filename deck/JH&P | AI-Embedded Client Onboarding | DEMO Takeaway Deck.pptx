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4"/>
    <p:sldMasterId id="2147483712" r:id="rId5"/>
    <p:sldMasterId id="2147483713" r:id="rId6"/>
  </p:sldMasterIdLst>
  <p:notesMasterIdLst>
    <p:notesMasterId r:id="rId7"/>
  </p:notesMasterIdLst>
  <p:sldIdLst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  <p:sldId id="333" r:id="rId89"/>
    <p:sldId id="334" r:id="rId90"/>
    <p:sldId id="335" r:id="rId91"/>
    <p:sldId id="336" r:id="rId92"/>
    <p:sldId id="337" r:id="rId93"/>
    <p:sldId id="338" r:id="rId94"/>
    <p:sldId id="339" r:id="rId95"/>
    <p:sldId id="340" r:id="rId96"/>
    <p:sldId id="341" r:id="rId97"/>
    <p:sldId id="342" r:id="rId98"/>
    <p:sldId id="343" r:id="rId99"/>
    <p:sldId id="344" r:id="rId100"/>
    <p:sldId id="345" r:id="rId101"/>
    <p:sldId id="346" r:id="rId102"/>
    <p:sldId id="347" r:id="rId103"/>
    <p:sldId id="348" r:id="rId104"/>
    <p:sldId id="349" r:id="rId105"/>
    <p:sldId id="350" r:id="rId106"/>
    <p:sldId id="351" r:id="rId107"/>
    <p:sldId id="352" r:id="rId108"/>
  </p:sldIdLst>
  <p:sldSz cy="5143500" cx="9144000"/>
  <p:notesSz cx="6858000" cy="9144000"/>
  <p:embeddedFontLst>
    <p:embeddedFont>
      <p:font typeface="Funnel Sans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68" Type="http://schemas.openxmlformats.org/officeDocument/2006/relationships/font" Target="fonts/FunnelSans-regular.fntdata"/><Relationship Id="rId69" Type="http://schemas.openxmlformats.org/officeDocument/2006/relationships/font" Target="fonts/FunnelSans-bold.fntdata"/><Relationship Id="rId70" Type="http://schemas.openxmlformats.org/officeDocument/2006/relationships/font" Target="fonts/FunnelSans-italic.fntdata"/><Relationship Id="rId71" Type="http://schemas.openxmlformats.org/officeDocument/2006/relationships/font" Target="fonts/FunnelSans-boldItalic.fntdata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Relationship Id="rId103" Type="http://schemas.openxmlformats.org/officeDocument/2006/relationships/slide" Target="slides/slide92.xml"/><Relationship Id="rId104" Type="http://schemas.openxmlformats.org/officeDocument/2006/relationships/slide" Target="slides/slide93.xml"/><Relationship Id="rId105" Type="http://schemas.openxmlformats.org/officeDocument/2006/relationships/slide" Target="slides/slide94.xml"/><Relationship Id="rId106" Type="http://schemas.openxmlformats.org/officeDocument/2006/relationships/slide" Target="slides/slide95.xml"/><Relationship Id="rId107" Type="http://schemas.openxmlformats.org/officeDocument/2006/relationships/slide" Target="slides/slide96.xml"/><Relationship Id="rId108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23_Title Only 1 - Appian Blue">
    <p:bg>
      <p:bgPr>
        <a:solidFill>
          <a:srgbClr val="2322F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3"/>
          <p:cNvCxnSpPr/>
          <p:nvPr/>
        </p:nvCxnSpPr>
        <p:spPr>
          <a:xfrm>
            <a:off x="790966" y="4724400"/>
            <a:ext cx="0" cy="184800"/>
          </a:xfrm>
          <a:prstGeom prst="straightConnector1">
            <a:avLst/>
          </a:prstGeom>
          <a:noFill/>
          <a:ln cap="flat" cmpd="sng" w="143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4622" y="2661362"/>
            <a:ext cx="63780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7601121" y="1761472"/>
            <a:ext cx="1552904" cy="3402923"/>
          </a:xfrm>
          <a:custGeom>
            <a:rect b="b" l="l" r="r" t="t"/>
            <a:pathLst>
              <a:path extrusionOk="0" h="4537230" w="2070538">
                <a:moveTo>
                  <a:pt x="8066" y="4537230"/>
                </a:moveTo>
                <a:cubicBezTo>
                  <a:pt x="5377" y="3714999"/>
                  <a:pt x="2689" y="2892769"/>
                  <a:pt x="0" y="2070538"/>
                </a:cubicBez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2" showMasterSp="0">
  <p:cSld name="1_Cover A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7594436" y="2414391"/>
            <a:ext cx="1545654" cy="2722223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763906" y="1715401"/>
            <a:ext cx="58884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Ubuntu"/>
              <a:buNone/>
              <a:defRPr b="1" i="0" sz="36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763906" y="3632906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2" type="body"/>
          </p:nvPr>
        </p:nvSpPr>
        <p:spPr>
          <a:xfrm>
            <a:off x="763906" y="4031843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5758" y="4685063"/>
            <a:ext cx="685800" cy="26323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7_Content 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02838" y="1657350"/>
            <a:ext cx="83388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4_Image Divider">
    <p:bg>
      <p:bgPr>
        <a:solidFill>
          <a:srgbClr val="2322F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8618" y="4649096"/>
            <a:ext cx="816135" cy="31522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/>
          <p:nvPr/>
        </p:nvSpPr>
        <p:spPr>
          <a:xfrm>
            <a:off x="748193" y="4649096"/>
            <a:ext cx="1549500" cy="259800"/>
          </a:xfrm>
          <a:prstGeom prst="rect">
            <a:avLst/>
          </a:pr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>
            <p:ph idx="2" type="pic"/>
          </p:nvPr>
        </p:nvSpPr>
        <p:spPr>
          <a:xfrm>
            <a:off x="1" y="0"/>
            <a:ext cx="9144000" cy="514350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04622" y="2661362"/>
            <a:ext cx="63780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/>
          <p:nvPr/>
        </p:nvSpPr>
        <p:spPr>
          <a:xfrm>
            <a:off x="7594436" y="2414391"/>
            <a:ext cx="1545654" cy="2722223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874679" y="4730170"/>
            <a:ext cx="368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rPr>
              <a:t>©2026 Appian. All rights reserved.</a:t>
            </a:r>
            <a:endParaRPr b="0" i="0" sz="700" u="none" cap="none" strike="noStrike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782728" y="4724399"/>
            <a:ext cx="0" cy="184800"/>
          </a:xfrm>
          <a:prstGeom prst="straightConnector1">
            <a:avLst/>
          </a:prstGeom>
          <a:noFill/>
          <a:ln cap="flat" cmpd="sng" w="143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5758" y="4685063"/>
            <a:ext cx="685800" cy="263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2" showMasterSp="0">
  <p:cSld name="1_Cover A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7601810" y="2421765"/>
            <a:ext cx="1545654" cy="2722223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5758" y="4685063"/>
            <a:ext cx="685800" cy="26323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type="title"/>
          </p:nvPr>
        </p:nvSpPr>
        <p:spPr>
          <a:xfrm>
            <a:off x="763906" y="1715401"/>
            <a:ext cx="58884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Ubuntu"/>
              <a:buNone/>
              <a:defRPr b="1" i="0" sz="36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" type="subTitle"/>
          </p:nvPr>
        </p:nvSpPr>
        <p:spPr>
          <a:xfrm>
            <a:off x="763906" y="3632906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2" name="Google Shape;92;p18"/>
          <p:cNvSpPr txBox="1"/>
          <p:nvPr>
            <p:ph idx="2" type="body"/>
          </p:nvPr>
        </p:nvSpPr>
        <p:spPr>
          <a:xfrm>
            <a:off x="763906" y="4031843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2" showMasterSp="0">
  <p:cSld name="2_Cover A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7601810" y="2421765"/>
            <a:ext cx="1545654" cy="2722223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5758" y="4685063"/>
            <a:ext cx="685800" cy="26323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>
            <p:ph type="title"/>
          </p:nvPr>
        </p:nvSpPr>
        <p:spPr>
          <a:xfrm>
            <a:off x="763906" y="945450"/>
            <a:ext cx="58884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Ubuntu"/>
              <a:buNone/>
              <a:defRPr b="1" i="0" sz="36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763906" y="2932358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8" name="Google Shape;98;p19"/>
          <p:cNvSpPr txBox="1"/>
          <p:nvPr>
            <p:ph idx="2" type="body"/>
          </p:nvPr>
        </p:nvSpPr>
        <p:spPr>
          <a:xfrm>
            <a:off x="763906" y="3331294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Only 2">
  <p:cSld name="6_Title Only 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404622" y="2661362"/>
            <a:ext cx="63780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23_Title Only 2 A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05" name="Google Shape;105;p21"/>
          <p:cNvSpPr/>
          <p:nvPr/>
        </p:nvSpPr>
        <p:spPr>
          <a:xfrm>
            <a:off x="7601121" y="1761472"/>
            <a:ext cx="1552904" cy="3402923"/>
          </a:xfrm>
          <a:custGeom>
            <a:rect b="b" l="l" r="r" t="t"/>
            <a:pathLst>
              <a:path extrusionOk="0" h="4537230" w="2070538">
                <a:moveTo>
                  <a:pt x="8066" y="4537230"/>
                </a:moveTo>
                <a:cubicBezTo>
                  <a:pt x="5377" y="3714999"/>
                  <a:pt x="2689" y="2892769"/>
                  <a:pt x="0" y="2070538"/>
                </a:cubicBez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763906" y="2048990"/>
            <a:ext cx="58884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Ubuntu"/>
              <a:buNone/>
              <a:defRPr b="1" i="0" sz="36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763906" y="4000269"/>
            <a:ext cx="5888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24_Title Only 2 B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11" name="Google Shape;111;p22"/>
          <p:cNvSpPr txBox="1"/>
          <p:nvPr>
            <p:ph type="title"/>
          </p:nvPr>
        </p:nvSpPr>
        <p:spPr>
          <a:xfrm>
            <a:off x="763906" y="2048990"/>
            <a:ext cx="58884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Ubuntu"/>
              <a:buNone/>
              <a:defRPr b="1" i="0" sz="36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763906" y="4000269"/>
            <a:ext cx="5888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7_Content 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02838" y="1657350"/>
            <a:ext cx="83388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3"/>
          <p:cNvSpPr txBox="1"/>
          <p:nvPr>
            <p:ph idx="2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3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8_Content 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2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9_Content 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402839" y="1657350"/>
            <a:ext cx="40836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2" type="body"/>
          </p:nvPr>
        </p:nvSpPr>
        <p:spPr>
          <a:xfrm>
            <a:off x="4657725" y="1657350"/>
            <a:ext cx="40836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>
            <p:ph idx="3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4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0_Content 4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402838" y="1657350"/>
            <a:ext cx="26262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2" type="body"/>
          </p:nvPr>
        </p:nvSpPr>
        <p:spPr>
          <a:xfrm>
            <a:off x="3258946" y="1657350"/>
            <a:ext cx="26262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3" type="body"/>
          </p:nvPr>
        </p:nvSpPr>
        <p:spPr>
          <a:xfrm>
            <a:off x="6115054" y="1648832"/>
            <a:ext cx="2626200" cy="27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6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6"/>
          <p:cNvSpPr txBox="1"/>
          <p:nvPr>
            <p:ph idx="4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5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1_Content 5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402838" y="551818"/>
            <a:ext cx="40380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02838" y="942554"/>
            <a:ext cx="40380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7"/>
          <p:cNvSpPr txBox="1"/>
          <p:nvPr>
            <p:ph idx="3" type="body"/>
          </p:nvPr>
        </p:nvSpPr>
        <p:spPr>
          <a:xfrm>
            <a:off x="402838" y="1657350"/>
            <a:ext cx="40380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pic>
        <p:nvPicPr>
          <p:cNvPr id="144" name="Google Shape;14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4704" y="4568874"/>
            <a:ext cx="820046" cy="313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/>
          <p:nvPr>
            <p:ph idx="4" type="pic"/>
          </p:nvPr>
        </p:nvSpPr>
        <p:spPr>
          <a:xfrm flipH="1">
            <a:off x="4848522" y="-7976"/>
            <a:ext cx="4295400" cy="5151300"/>
          </a:xfrm>
          <a:prstGeom prst="snip1Rect">
            <a:avLst>
              <a:gd fmla="val 44787" name="adj"/>
            </a:avLst>
          </a:prstGeom>
          <a:solidFill>
            <a:srgbClr val="CCDDFF"/>
          </a:solidFill>
          <a:ln>
            <a:noFill/>
          </a:ln>
        </p:spPr>
      </p:sp>
      <p:sp>
        <p:nvSpPr>
          <p:cNvPr id="146" name="Google Shape;146;p27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2_Content 6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1319503" y="2998463"/>
            <a:ext cx="1790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9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50" name="Google Shape;150;p28"/>
          <p:cNvCxnSpPr/>
          <p:nvPr/>
        </p:nvCxnSpPr>
        <p:spPr>
          <a:xfrm>
            <a:off x="3405077" y="2096882"/>
            <a:ext cx="0" cy="15948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28"/>
          <p:cNvSpPr txBox="1"/>
          <p:nvPr>
            <p:ph idx="2" type="body"/>
          </p:nvPr>
        </p:nvSpPr>
        <p:spPr>
          <a:xfrm>
            <a:off x="3685953" y="2998463"/>
            <a:ext cx="1790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9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52" name="Google Shape;152;p28"/>
          <p:cNvCxnSpPr/>
          <p:nvPr/>
        </p:nvCxnSpPr>
        <p:spPr>
          <a:xfrm>
            <a:off x="5757530" y="2096882"/>
            <a:ext cx="0" cy="159480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28"/>
          <p:cNvSpPr txBox="1"/>
          <p:nvPr>
            <p:ph idx="3" type="body"/>
          </p:nvPr>
        </p:nvSpPr>
        <p:spPr>
          <a:xfrm>
            <a:off x="6056307" y="2998463"/>
            <a:ext cx="1790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9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8"/>
          <p:cNvSpPr txBox="1"/>
          <p:nvPr>
            <p:ph idx="4" type="body"/>
          </p:nvPr>
        </p:nvSpPr>
        <p:spPr>
          <a:xfrm>
            <a:off x="1319503" y="1946006"/>
            <a:ext cx="17868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b="1" sz="5400">
                <a:solidFill>
                  <a:srgbClr val="2322F0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8"/>
          <p:cNvSpPr txBox="1"/>
          <p:nvPr>
            <p:ph idx="5" type="body"/>
          </p:nvPr>
        </p:nvSpPr>
        <p:spPr>
          <a:xfrm>
            <a:off x="3685953" y="1946006"/>
            <a:ext cx="17868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b="1" sz="5400">
                <a:solidFill>
                  <a:srgbClr val="2322F0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6" type="body"/>
          </p:nvPr>
        </p:nvSpPr>
        <p:spPr>
          <a:xfrm>
            <a:off x="6070189" y="1946006"/>
            <a:ext cx="17868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5400">
                <a:solidFill>
                  <a:srgbClr val="2322F0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8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58" name="Google Shape;158;p28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8"/>
          <p:cNvSpPr txBox="1"/>
          <p:nvPr>
            <p:ph idx="7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8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3_Content 7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/>
          <p:nvPr/>
        </p:nvSpPr>
        <p:spPr>
          <a:xfrm>
            <a:off x="1212651" y="1611223"/>
            <a:ext cx="3118200" cy="1208100"/>
          </a:xfrm>
          <a:prstGeom prst="roundRect">
            <a:avLst>
              <a:gd fmla="val 4445" name="adj"/>
            </a:avLst>
          </a:prstGeom>
          <a:solidFill>
            <a:srgbClr val="2322F0">
              <a:alpha val="902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4572000" y="1611223"/>
            <a:ext cx="3118200" cy="1208100"/>
          </a:xfrm>
          <a:prstGeom prst="roundRect">
            <a:avLst>
              <a:gd fmla="val 4445" name="adj"/>
            </a:avLst>
          </a:prstGeom>
          <a:solidFill>
            <a:srgbClr val="2322F0">
              <a:alpha val="902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64" name="Google Shape;164;p29"/>
          <p:cNvSpPr/>
          <p:nvPr/>
        </p:nvSpPr>
        <p:spPr>
          <a:xfrm>
            <a:off x="1212651" y="3010399"/>
            <a:ext cx="3118200" cy="1208100"/>
          </a:xfrm>
          <a:prstGeom prst="roundRect">
            <a:avLst>
              <a:gd fmla="val 4445" name="adj"/>
            </a:avLst>
          </a:prstGeom>
          <a:solidFill>
            <a:srgbClr val="2322F0">
              <a:alpha val="902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4572000" y="3010399"/>
            <a:ext cx="3118200" cy="1208100"/>
          </a:xfrm>
          <a:prstGeom prst="roundRect">
            <a:avLst>
              <a:gd fmla="val 4445" name="adj"/>
            </a:avLst>
          </a:prstGeom>
          <a:solidFill>
            <a:srgbClr val="2322F0">
              <a:alpha val="902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1257592" y="1611223"/>
            <a:ext cx="726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2322F0"/>
                </a:solidFill>
                <a:latin typeface="Funnel Sans"/>
                <a:ea typeface="Funnel Sans"/>
                <a:cs typeface="Funnel Sans"/>
                <a:sym typeface="Funnel Sans"/>
              </a:rPr>
              <a:t>01</a:t>
            </a:r>
            <a:endParaRPr b="1" i="0" sz="3000" u="none" cap="none" strike="noStrike">
              <a:solidFill>
                <a:srgbClr val="2322F0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4616941" y="1611223"/>
            <a:ext cx="726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2322F0"/>
                </a:solidFill>
                <a:latin typeface="Funnel Sans"/>
                <a:ea typeface="Funnel Sans"/>
                <a:cs typeface="Funnel Sans"/>
                <a:sym typeface="Funnel Sans"/>
              </a:rPr>
              <a:t>02</a:t>
            </a:r>
            <a:endParaRPr b="1" i="0" sz="3000" u="none" cap="none" strike="noStrike">
              <a:solidFill>
                <a:srgbClr val="2322F0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1257592" y="3010399"/>
            <a:ext cx="726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2322F0"/>
                </a:solidFill>
                <a:latin typeface="Funnel Sans"/>
                <a:ea typeface="Funnel Sans"/>
                <a:cs typeface="Funnel Sans"/>
                <a:sym typeface="Funnel Sans"/>
              </a:rPr>
              <a:t>03</a:t>
            </a:r>
            <a:endParaRPr b="1" i="0" sz="3000" u="none" cap="none" strike="noStrike">
              <a:solidFill>
                <a:srgbClr val="2322F0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69" name="Google Shape;169;p29"/>
          <p:cNvSpPr txBox="1"/>
          <p:nvPr/>
        </p:nvSpPr>
        <p:spPr>
          <a:xfrm>
            <a:off x="4616941" y="3010399"/>
            <a:ext cx="726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2322F0"/>
                </a:solidFill>
                <a:latin typeface="Funnel Sans"/>
                <a:ea typeface="Funnel Sans"/>
                <a:cs typeface="Funnel Sans"/>
                <a:sym typeface="Funnel Sans"/>
              </a:rPr>
              <a:t>04</a:t>
            </a:r>
            <a:endParaRPr b="1" i="0" sz="3000" u="none" cap="none" strike="noStrike">
              <a:solidFill>
                <a:srgbClr val="2322F0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2030393" y="1702764"/>
            <a:ext cx="2142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9"/>
          <p:cNvSpPr txBox="1"/>
          <p:nvPr>
            <p:ph idx="2" type="body"/>
          </p:nvPr>
        </p:nvSpPr>
        <p:spPr>
          <a:xfrm>
            <a:off x="2030393" y="2047731"/>
            <a:ext cx="21429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29"/>
          <p:cNvSpPr txBox="1"/>
          <p:nvPr>
            <p:ph idx="3" type="body"/>
          </p:nvPr>
        </p:nvSpPr>
        <p:spPr>
          <a:xfrm>
            <a:off x="5297468" y="1702764"/>
            <a:ext cx="2142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4" type="body"/>
          </p:nvPr>
        </p:nvSpPr>
        <p:spPr>
          <a:xfrm>
            <a:off x="5297468" y="2047731"/>
            <a:ext cx="21429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29"/>
          <p:cNvSpPr txBox="1"/>
          <p:nvPr>
            <p:ph idx="5" type="body"/>
          </p:nvPr>
        </p:nvSpPr>
        <p:spPr>
          <a:xfrm>
            <a:off x="2030393" y="3102939"/>
            <a:ext cx="2142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29"/>
          <p:cNvSpPr txBox="1"/>
          <p:nvPr>
            <p:ph idx="6" type="body"/>
          </p:nvPr>
        </p:nvSpPr>
        <p:spPr>
          <a:xfrm>
            <a:off x="2030393" y="3447906"/>
            <a:ext cx="2142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7" type="body"/>
          </p:nvPr>
        </p:nvSpPr>
        <p:spPr>
          <a:xfrm>
            <a:off x="5297468" y="3102939"/>
            <a:ext cx="2142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29"/>
          <p:cNvSpPr txBox="1"/>
          <p:nvPr>
            <p:ph idx="8" type="body"/>
          </p:nvPr>
        </p:nvSpPr>
        <p:spPr>
          <a:xfrm>
            <a:off x="5297468" y="3447906"/>
            <a:ext cx="2142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29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9"/>
          <p:cNvSpPr txBox="1"/>
          <p:nvPr>
            <p:ph idx="9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idx="13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4_Content 8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518870" y="586168"/>
            <a:ext cx="5596200" cy="3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886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rgbClr val="2322F0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30"/>
          <p:cNvSpPr/>
          <p:nvPr/>
        </p:nvSpPr>
        <p:spPr>
          <a:xfrm>
            <a:off x="7601121" y="1761472"/>
            <a:ext cx="1552904" cy="3402923"/>
          </a:xfrm>
          <a:custGeom>
            <a:rect b="b" l="l" r="r" t="t"/>
            <a:pathLst>
              <a:path extrusionOk="0" h="4537230" w="2070538">
                <a:moveTo>
                  <a:pt x="8066" y="4537230"/>
                </a:moveTo>
                <a:cubicBezTo>
                  <a:pt x="5377" y="3714999"/>
                  <a:pt x="2689" y="2892769"/>
                  <a:pt x="0" y="2070538"/>
                </a:cubicBez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322F0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85" name="Google Shape;185;p30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5_Content 9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518870" y="586168"/>
            <a:ext cx="5596200" cy="3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886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rgbClr val="2322F0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6_Content 10">
    <p:bg>
      <p:bgPr>
        <a:solidFill>
          <a:schemeClr val="lt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rectangular object with black lines&#10;&#10;Description automatically generated" id="190" name="Google Shape;190;p32"/>
          <p:cNvPicPr preferRelativeResize="0"/>
          <p:nvPr/>
        </p:nvPicPr>
        <p:blipFill rotWithShape="1">
          <a:blip r:embed="rId2">
            <a:alphaModFix/>
          </a:blip>
          <a:srcRect b="-715" l="0" r="-150" t="0"/>
          <a:stretch/>
        </p:blipFill>
        <p:spPr>
          <a:xfrm>
            <a:off x="1440179" y="1076048"/>
            <a:ext cx="6412969" cy="360873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2"/>
          <p:cNvSpPr/>
          <p:nvPr>
            <p:ph idx="2" type="pic"/>
          </p:nvPr>
        </p:nvSpPr>
        <p:spPr>
          <a:xfrm>
            <a:off x="2212808" y="1176275"/>
            <a:ext cx="4866000" cy="3251100"/>
          </a:xfrm>
          <a:prstGeom prst="roundRect">
            <a:avLst>
              <a:gd fmla="val 787" name="adj"/>
            </a:avLst>
          </a:prstGeom>
          <a:solidFill>
            <a:srgbClr val="CCDDFF"/>
          </a:solidFill>
          <a:ln>
            <a:noFill/>
          </a:ln>
        </p:spPr>
      </p:sp>
      <p:sp>
        <p:nvSpPr>
          <p:cNvPr id="192" name="Google Shape;192;p32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7_Content 11">
    <p:bg>
      <p:bgPr>
        <a:solidFill>
          <a:schemeClr val="l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rectangular object with black lines&#10;&#10;Description automatically generated" id="196" name="Google Shape;196;p33"/>
          <p:cNvPicPr preferRelativeResize="0"/>
          <p:nvPr/>
        </p:nvPicPr>
        <p:blipFill rotWithShape="1">
          <a:blip r:embed="rId2">
            <a:alphaModFix/>
          </a:blip>
          <a:srcRect b="-715" l="0" r="-150" t="0"/>
          <a:stretch/>
        </p:blipFill>
        <p:spPr>
          <a:xfrm>
            <a:off x="3752850" y="1479451"/>
            <a:ext cx="4862295" cy="298160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3"/>
          <p:cNvSpPr/>
          <p:nvPr>
            <p:ph idx="2" type="pic"/>
          </p:nvPr>
        </p:nvSpPr>
        <p:spPr>
          <a:xfrm>
            <a:off x="4329713" y="1549279"/>
            <a:ext cx="3703200" cy="2695800"/>
          </a:xfrm>
          <a:prstGeom prst="roundRect">
            <a:avLst>
              <a:gd fmla="val 787" name="adj"/>
            </a:avLst>
          </a:prstGeom>
          <a:solidFill>
            <a:srgbClr val="CCDDFF"/>
          </a:solidFill>
          <a:ln>
            <a:noFill/>
          </a:ln>
        </p:spPr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402838" y="1657350"/>
            <a:ext cx="30834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3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00" name="Google Shape;200;p3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3"/>
          <p:cNvSpPr txBox="1"/>
          <p:nvPr>
            <p:ph idx="3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33"/>
          <p:cNvSpPr txBox="1"/>
          <p:nvPr>
            <p:ph idx="4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8_Content 12">
    <p:bg>
      <p:bgPr>
        <a:solidFill>
          <a:schemeClr val="lt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/>
          <p:nvPr/>
        </p:nvSpPr>
        <p:spPr>
          <a:xfrm>
            <a:off x="1600201" y="1057102"/>
            <a:ext cx="5974800" cy="3439500"/>
          </a:xfrm>
          <a:prstGeom prst="roundRect">
            <a:avLst>
              <a:gd fmla="val 2340" name="adj"/>
            </a:avLst>
          </a:prstGeom>
          <a:solidFill>
            <a:srgbClr val="CCDDFF">
              <a:alpha val="4627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05" name="Google Shape;205;p34"/>
          <p:cNvSpPr/>
          <p:nvPr>
            <p:ph idx="2" type="pic"/>
          </p:nvPr>
        </p:nvSpPr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sp>
      <p:sp>
        <p:nvSpPr>
          <p:cNvPr id="206" name="Google Shape;206;p34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07" name="Google Shape;207;p34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9_Content 13"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402838" y="1657350"/>
            <a:ext cx="30834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11" name="Google Shape;211;p35"/>
          <p:cNvSpPr/>
          <p:nvPr/>
        </p:nvSpPr>
        <p:spPr>
          <a:xfrm>
            <a:off x="3852322" y="1640425"/>
            <a:ext cx="4888800" cy="2814300"/>
          </a:xfrm>
          <a:prstGeom prst="roundRect">
            <a:avLst>
              <a:gd fmla="val 2340" name="adj"/>
            </a:avLst>
          </a:prstGeom>
          <a:solidFill>
            <a:srgbClr val="CCDDFF">
              <a:alpha val="4627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12" name="Google Shape;212;p35"/>
          <p:cNvSpPr/>
          <p:nvPr>
            <p:ph idx="2" type="pic"/>
          </p:nvPr>
        </p:nvSpPr>
        <p:spPr>
          <a:xfrm>
            <a:off x="3962895" y="1733616"/>
            <a:ext cx="4659600" cy="2621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sp>
      <p:sp>
        <p:nvSpPr>
          <p:cNvPr id="213" name="Google Shape;213;p35"/>
          <p:cNvSpPr/>
          <p:nvPr/>
        </p:nvSpPr>
        <p:spPr>
          <a:xfrm rot="10800000">
            <a:off x="959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14" name="Google Shape;214;p35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35"/>
          <p:cNvSpPr txBox="1"/>
          <p:nvPr>
            <p:ph idx="3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4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20_Blank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21_Thank You A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/>
        </p:nvSpPr>
        <p:spPr>
          <a:xfrm>
            <a:off x="518870" y="1686956"/>
            <a:ext cx="4137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5000" u="none" cap="none" strike="noStrik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Thank You</a:t>
            </a:r>
            <a:endParaRPr b="0" i="0" sz="11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21" name="Google Shape;221;p37"/>
          <p:cNvSpPr txBox="1"/>
          <p:nvPr>
            <p:ph idx="1" type="body"/>
          </p:nvPr>
        </p:nvSpPr>
        <p:spPr>
          <a:xfrm>
            <a:off x="518870" y="2613452"/>
            <a:ext cx="4633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37"/>
          <p:cNvSpPr/>
          <p:nvPr/>
        </p:nvSpPr>
        <p:spPr>
          <a:xfrm>
            <a:off x="5698544" y="7535"/>
            <a:ext cx="3457798" cy="5136945"/>
          </a:xfrm>
          <a:custGeom>
            <a:rect b="b" l="l" r="r" t="t"/>
            <a:pathLst>
              <a:path extrusionOk="0" h="3076015" w="2070538">
                <a:moveTo>
                  <a:pt x="2286" y="3076015"/>
                </a:moveTo>
                <a:cubicBezTo>
                  <a:pt x="-403" y="2253784"/>
                  <a:pt x="2689" y="2892769"/>
                  <a:pt x="0" y="2070538"/>
                </a:cubicBez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22_Thank You B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/>
        </p:nvSpPr>
        <p:spPr>
          <a:xfrm>
            <a:off x="518870" y="1686956"/>
            <a:ext cx="4137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5000" u="none" cap="none" strike="noStrike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rPr>
              <a:t>Thank You</a:t>
            </a:r>
            <a:endParaRPr b="0" i="0" sz="11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26" name="Google Shape;226;p38"/>
          <p:cNvSpPr txBox="1"/>
          <p:nvPr>
            <p:ph idx="1" type="body"/>
          </p:nvPr>
        </p:nvSpPr>
        <p:spPr>
          <a:xfrm>
            <a:off x="518870" y="2613452"/>
            <a:ext cx="4633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27" name="Google Shape;227;p38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2" showMasterSp="0">
  <p:cSld name="3_Cover B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idx="1" type="subTitle"/>
          </p:nvPr>
        </p:nvSpPr>
        <p:spPr>
          <a:xfrm>
            <a:off x="763906" y="3966356"/>
            <a:ext cx="360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0" name="Google Shape;230;p39"/>
          <p:cNvSpPr txBox="1"/>
          <p:nvPr>
            <p:ph idx="2" type="body"/>
          </p:nvPr>
        </p:nvSpPr>
        <p:spPr>
          <a:xfrm>
            <a:off x="763905" y="4350544"/>
            <a:ext cx="36099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type="title"/>
          </p:nvPr>
        </p:nvSpPr>
        <p:spPr>
          <a:xfrm>
            <a:off x="763906" y="2048990"/>
            <a:ext cx="36099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Ubuntu"/>
              <a:buNone/>
              <a:defRPr b="1" i="0" sz="36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pic>
        <p:nvPicPr>
          <p:cNvPr id="232" name="Google Shape;23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5758" y="4685064"/>
            <a:ext cx="685800" cy="26323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9"/>
          <p:cNvSpPr/>
          <p:nvPr>
            <p:ph idx="3" type="pic"/>
          </p:nvPr>
        </p:nvSpPr>
        <p:spPr>
          <a:xfrm flipH="1">
            <a:off x="4848522" y="-7976"/>
            <a:ext cx="4295400" cy="5151300"/>
          </a:xfrm>
          <a:prstGeom prst="snip1Rect">
            <a:avLst>
              <a:gd fmla="val 44787" name="adj"/>
            </a:avLst>
          </a:prstGeom>
          <a:solidFill>
            <a:srgbClr val="CCDDFF"/>
          </a:solidFill>
          <a:ln>
            <a:noFill/>
          </a:ln>
        </p:spPr>
      </p:sp>
      <p:pic>
        <p:nvPicPr>
          <p:cNvPr id="234" name="Google Shape;23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2437" y="273847"/>
            <a:ext cx="685800" cy="263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 Title Only 1">
  <p:cSld name="5_ Title Only 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40"/>
          <p:cNvSpPr txBox="1"/>
          <p:nvPr>
            <p:ph idx="1" type="body"/>
          </p:nvPr>
        </p:nvSpPr>
        <p:spPr>
          <a:xfrm>
            <a:off x="404622" y="2661362"/>
            <a:ext cx="63780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chemeClr val="dk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40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39" name="Google Shape;239;p40"/>
          <p:cNvSpPr/>
          <p:nvPr/>
        </p:nvSpPr>
        <p:spPr>
          <a:xfrm>
            <a:off x="7219950" y="926201"/>
            <a:ext cx="1930777" cy="4230967"/>
          </a:xfrm>
          <a:custGeom>
            <a:rect b="b" l="l" r="r" t="t"/>
            <a:pathLst>
              <a:path extrusionOk="0" h="4537230" w="2070538">
                <a:moveTo>
                  <a:pt x="8066" y="4537230"/>
                </a:moveTo>
                <a:cubicBezTo>
                  <a:pt x="5377" y="3714999"/>
                  <a:pt x="2689" y="2892769"/>
                  <a:pt x="0" y="2070538"/>
                </a:cubicBez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7_Content 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49" name="Google Shape;249;p42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50" name="Google Shape;250;p42"/>
          <p:cNvSpPr txBox="1"/>
          <p:nvPr>
            <p:ph idx="2" type="body"/>
          </p:nvPr>
        </p:nvSpPr>
        <p:spPr>
          <a:xfrm>
            <a:off x="402838" y="1657350"/>
            <a:ext cx="83388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1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42"/>
          <p:cNvSpPr txBox="1"/>
          <p:nvPr>
            <p:ph idx="3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52" name="Google Shape;252;p42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8_Content 2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2" showMasterSp="0">
  <p:cSld name="1_Cover A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4"/>
          <p:cNvSpPr/>
          <p:nvPr/>
        </p:nvSpPr>
        <p:spPr>
          <a:xfrm>
            <a:off x="7594436" y="2414391"/>
            <a:ext cx="1545654" cy="2722223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60" name="Google Shape;260;p44"/>
          <p:cNvSpPr txBox="1"/>
          <p:nvPr>
            <p:ph type="title"/>
          </p:nvPr>
        </p:nvSpPr>
        <p:spPr>
          <a:xfrm>
            <a:off x="763906" y="1715401"/>
            <a:ext cx="58884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Ubuntu"/>
              <a:buNone/>
              <a:defRPr b="1" i="0" sz="36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61" name="Google Shape;261;p44"/>
          <p:cNvSpPr txBox="1"/>
          <p:nvPr>
            <p:ph idx="1" type="subTitle"/>
          </p:nvPr>
        </p:nvSpPr>
        <p:spPr>
          <a:xfrm>
            <a:off x="763906" y="3632906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62" name="Google Shape;262;p44"/>
          <p:cNvSpPr txBox="1"/>
          <p:nvPr>
            <p:ph idx="2" type="body"/>
          </p:nvPr>
        </p:nvSpPr>
        <p:spPr>
          <a:xfrm>
            <a:off x="763906" y="4031843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pic>
        <p:nvPicPr>
          <p:cNvPr id="263" name="Google Shape;263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5758" y="4685063"/>
            <a:ext cx="685800" cy="26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2" showMasterSp="0">
  <p:cSld name="2_Cover A2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/>
          <p:nvPr/>
        </p:nvSpPr>
        <p:spPr>
          <a:xfrm>
            <a:off x="7594436" y="2414391"/>
            <a:ext cx="1545654" cy="2722223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67" name="Google Shape;267;p45"/>
          <p:cNvSpPr txBox="1"/>
          <p:nvPr>
            <p:ph type="title"/>
          </p:nvPr>
        </p:nvSpPr>
        <p:spPr>
          <a:xfrm>
            <a:off x="763906" y="945450"/>
            <a:ext cx="58884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Ubuntu"/>
              <a:buNone/>
              <a:defRPr b="1" i="0" sz="36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pic>
        <p:nvPicPr>
          <p:cNvPr id="268" name="Google Shape;26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5758" y="4685063"/>
            <a:ext cx="685800" cy="26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5"/>
          <p:cNvSpPr txBox="1"/>
          <p:nvPr>
            <p:ph idx="1" type="subTitle"/>
          </p:nvPr>
        </p:nvSpPr>
        <p:spPr>
          <a:xfrm>
            <a:off x="763906" y="2932358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70" name="Google Shape;270;p45"/>
          <p:cNvSpPr txBox="1"/>
          <p:nvPr>
            <p:ph idx="2" type="body"/>
          </p:nvPr>
        </p:nvSpPr>
        <p:spPr>
          <a:xfrm>
            <a:off x="763906" y="3331294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5_Title Only 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>
            <p:ph idx="1" type="body"/>
          </p:nvPr>
        </p:nvSpPr>
        <p:spPr>
          <a:xfrm>
            <a:off x="404622" y="2661362"/>
            <a:ext cx="63780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73" name="Google Shape;273;p46"/>
          <p:cNvSpPr/>
          <p:nvPr/>
        </p:nvSpPr>
        <p:spPr>
          <a:xfrm>
            <a:off x="7219950" y="926201"/>
            <a:ext cx="1930777" cy="4230967"/>
          </a:xfrm>
          <a:custGeom>
            <a:rect b="b" l="l" r="r" t="t"/>
            <a:pathLst>
              <a:path extrusionOk="0" h="4537230" w="2070538">
                <a:moveTo>
                  <a:pt x="8066" y="4537230"/>
                </a:moveTo>
                <a:cubicBezTo>
                  <a:pt x="5377" y="3714999"/>
                  <a:pt x="2689" y="2892769"/>
                  <a:pt x="0" y="2070538"/>
                </a:cubicBez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6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46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6_Title Only 2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/>
          <p:cNvSpPr txBox="1"/>
          <p:nvPr>
            <p:ph idx="1" type="body"/>
          </p:nvPr>
        </p:nvSpPr>
        <p:spPr>
          <a:xfrm>
            <a:off x="404622" y="2661362"/>
            <a:ext cx="63780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78" name="Google Shape;278;p47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7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23_Title Only 1 - Appian Blue">
    <p:bg>
      <p:bgPr>
        <a:solidFill>
          <a:srgbClr val="2322F0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" name="Google Shape;281;p48"/>
          <p:cNvCxnSpPr/>
          <p:nvPr/>
        </p:nvCxnSpPr>
        <p:spPr>
          <a:xfrm>
            <a:off x="790966" y="4724400"/>
            <a:ext cx="0" cy="184800"/>
          </a:xfrm>
          <a:prstGeom prst="straightConnector1">
            <a:avLst/>
          </a:prstGeom>
          <a:noFill/>
          <a:ln cap="flat" cmpd="sng" w="143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48"/>
          <p:cNvSpPr txBox="1"/>
          <p:nvPr>
            <p:ph idx="1" type="body"/>
          </p:nvPr>
        </p:nvSpPr>
        <p:spPr>
          <a:xfrm>
            <a:off x="404622" y="2661362"/>
            <a:ext cx="63780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83" name="Google Shape;283;p48"/>
          <p:cNvSpPr/>
          <p:nvPr/>
        </p:nvSpPr>
        <p:spPr>
          <a:xfrm>
            <a:off x="7601121" y="1761472"/>
            <a:ext cx="1552904" cy="3402923"/>
          </a:xfrm>
          <a:custGeom>
            <a:rect b="b" l="l" r="r" t="t"/>
            <a:pathLst>
              <a:path extrusionOk="0" h="4537230" w="2070538">
                <a:moveTo>
                  <a:pt x="8066" y="4537230"/>
                </a:moveTo>
                <a:cubicBezTo>
                  <a:pt x="5377" y="3714999"/>
                  <a:pt x="2689" y="2892769"/>
                  <a:pt x="0" y="2070538"/>
                </a:cubicBez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84" name="Google Shape;284;p48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48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24_Title Only 2 - Appian Blue">
    <p:bg>
      <p:bgPr>
        <a:solidFill>
          <a:srgbClr val="2322F0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7" name="Google Shape;287;p49"/>
          <p:cNvCxnSpPr/>
          <p:nvPr/>
        </p:nvCxnSpPr>
        <p:spPr>
          <a:xfrm>
            <a:off x="790966" y="4724400"/>
            <a:ext cx="0" cy="184800"/>
          </a:xfrm>
          <a:prstGeom prst="straightConnector1">
            <a:avLst/>
          </a:prstGeom>
          <a:noFill/>
          <a:ln cap="flat" cmpd="sng" w="143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402437" y="2661362"/>
            <a:ext cx="63780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89" name="Google Shape;289;p49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49"/>
          <p:cNvSpPr/>
          <p:nvPr/>
        </p:nvSpPr>
        <p:spPr>
          <a:xfrm rot="10800000">
            <a:off x="-18814" y="-2576"/>
            <a:ext cx="1930777" cy="2523590"/>
          </a:xfrm>
          <a:custGeom>
            <a:rect b="b" l="l" r="r" t="t"/>
            <a:pathLst>
              <a:path extrusionOk="0" h="2706263" w="2070538">
                <a:moveTo>
                  <a:pt x="0" y="2706263"/>
                </a:moveTo>
                <a:lnTo>
                  <a:pt x="0" y="2070538"/>
                </a:ln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9_Content 3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0"/>
          <p:cNvSpPr txBox="1"/>
          <p:nvPr>
            <p:ph idx="1" type="body"/>
          </p:nvPr>
        </p:nvSpPr>
        <p:spPr>
          <a:xfrm>
            <a:off x="402839" y="1657350"/>
            <a:ext cx="40836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1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93" name="Google Shape;293;p50"/>
          <p:cNvSpPr txBox="1"/>
          <p:nvPr>
            <p:ph idx="2" type="body"/>
          </p:nvPr>
        </p:nvSpPr>
        <p:spPr>
          <a:xfrm>
            <a:off x="4657725" y="1657350"/>
            <a:ext cx="40836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1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94" name="Google Shape;294;p50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295" name="Google Shape;295;p50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50"/>
          <p:cNvSpPr txBox="1"/>
          <p:nvPr>
            <p:ph idx="3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50"/>
          <p:cNvSpPr txBox="1"/>
          <p:nvPr>
            <p:ph idx="4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0_Content 4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/>
          <p:nvPr>
            <p:ph idx="1" type="body"/>
          </p:nvPr>
        </p:nvSpPr>
        <p:spPr>
          <a:xfrm>
            <a:off x="402838" y="1657350"/>
            <a:ext cx="26262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1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00" name="Google Shape;300;p51"/>
          <p:cNvSpPr txBox="1"/>
          <p:nvPr>
            <p:ph idx="2" type="body"/>
          </p:nvPr>
        </p:nvSpPr>
        <p:spPr>
          <a:xfrm>
            <a:off x="3258875" y="1657350"/>
            <a:ext cx="26262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1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01" name="Google Shape;301;p51"/>
          <p:cNvSpPr txBox="1"/>
          <p:nvPr>
            <p:ph idx="3" type="body"/>
          </p:nvPr>
        </p:nvSpPr>
        <p:spPr>
          <a:xfrm>
            <a:off x="6114913" y="1648832"/>
            <a:ext cx="26262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1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02" name="Google Shape;302;p51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03" name="Google Shape;303;p51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51"/>
          <p:cNvSpPr txBox="1"/>
          <p:nvPr>
            <p:ph idx="4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05" name="Google Shape;305;p51"/>
          <p:cNvSpPr txBox="1"/>
          <p:nvPr>
            <p:ph idx="5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1_Content 5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8618" y="4649096"/>
            <a:ext cx="816135" cy="3152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2"/>
          <p:cNvSpPr txBox="1"/>
          <p:nvPr>
            <p:ph idx="1" type="body"/>
          </p:nvPr>
        </p:nvSpPr>
        <p:spPr>
          <a:xfrm>
            <a:off x="402838" y="551818"/>
            <a:ext cx="40380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09" name="Google Shape;309;p52"/>
          <p:cNvSpPr txBox="1"/>
          <p:nvPr>
            <p:ph idx="2" type="body"/>
          </p:nvPr>
        </p:nvSpPr>
        <p:spPr>
          <a:xfrm>
            <a:off x="402838" y="942554"/>
            <a:ext cx="40380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52"/>
          <p:cNvSpPr txBox="1"/>
          <p:nvPr>
            <p:ph idx="3" type="body"/>
          </p:nvPr>
        </p:nvSpPr>
        <p:spPr>
          <a:xfrm>
            <a:off x="402838" y="1657350"/>
            <a:ext cx="40380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1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11" name="Google Shape;311;p52"/>
          <p:cNvSpPr/>
          <p:nvPr>
            <p:ph idx="4" type="pic"/>
          </p:nvPr>
        </p:nvSpPr>
        <p:spPr>
          <a:xfrm flipH="1">
            <a:off x="4848522" y="-7976"/>
            <a:ext cx="4295400" cy="5151300"/>
          </a:xfrm>
          <a:prstGeom prst="snip1Rect">
            <a:avLst>
              <a:gd fmla="val 44787" name="adj"/>
            </a:avLst>
          </a:prstGeom>
          <a:solidFill>
            <a:srgbClr val="CCDDFF"/>
          </a:solidFill>
          <a:ln>
            <a:noFill/>
          </a:ln>
        </p:spPr>
      </p:sp>
      <p:sp>
        <p:nvSpPr>
          <p:cNvPr id="312" name="Google Shape;312;p52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13" name="Google Shape;313;p52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2_Content 6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"/>
          <p:cNvSpPr txBox="1"/>
          <p:nvPr>
            <p:ph idx="1" type="body"/>
          </p:nvPr>
        </p:nvSpPr>
        <p:spPr>
          <a:xfrm>
            <a:off x="1319503" y="2998463"/>
            <a:ext cx="1790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316" name="Google Shape;316;p53"/>
          <p:cNvCxnSpPr/>
          <p:nvPr/>
        </p:nvCxnSpPr>
        <p:spPr>
          <a:xfrm>
            <a:off x="3405077" y="2096882"/>
            <a:ext cx="0" cy="1594800"/>
          </a:xfrm>
          <a:prstGeom prst="straightConnector1">
            <a:avLst/>
          </a:prstGeom>
          <a:noFill/>
          <a:ln cap="flat" cmpd="sng" w="7150">
            <a:solidFill>
              <a:srgbClr val="2AE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53"/>
          <p:cNvSpPr txBox="1"/>
          <p:nvPr>
            <p:ph idx="2" type="body"/>
          </p:nvPr>
        </p:nvSpPr>
        <p:spPr>
          <a:xfrm>
            <a:off x="3692821" y="2998463"/>
            <a:ext cx="1790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318" name="Google Shape;318;p53"/>
          <p:cNvCxnSpPr/>
          <p:nvPr/>
        </p:nvCxnSpPr>
        <p:spPr>
          <a:xfrm>
            <a:off x="5757530" y="2096882"/>
            <a:ext cx="0" cy="1594800"/>
          </a:xfrm>
          <a:prstGeom prst="straightConnector1">
            <a:avLst/>
          </a:prstGeom>
          <a:noFill/>
          <a:ln cap="flat" cmpd="sng" w="7150">
            <a:solidFill>
              <a:srgbClr val="2AE3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53"/>
          <p:cNvSpPr txBox="1"/>
          <p:nvPr>
            <p:ph idx="3" type="body"/>
          </p:nvPr>
        </p:nvSpPr>
        <p:spPr>
          <a:xfrm>
            <a:off x="6056307" y="2998463"/>
            <a:ext cx="1790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0" name="Google Shape;320;p53"/>
          <p:cNvSpPr txBox="1"/>
          <p:nvPr>
            <p:ph idx="4" type="body"/>
          </p:nvPr>
        </p:nvSpPr>
        <p:spPr>
          <a:xfrm>
            <a:off x="1319503" y="1946006"/>
            <a:ext cx="17868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5400">
                <a:solidFill>
                  <a:srgbClr val="2AE3FF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21" name="Google Shape;321;p53"/>
          <p:cNvSpPr txBox="1"/>
          <p:nvPr>
            <p:ph idx="5" type="body"/>
          </p:nvPr>
        </p:nvSpPr>
        <p:spPr>
          <a:xfrm>
            <a:off x="3692821" y="1946006"/>
            <a:ext cx="17868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5400">
                <a:solidFill>
                  <a:srgbClr val="2AE3FF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22" name="Google Shape;322;p53"/>
          <p:cNvSpPr txBox="1"/>
          <p:nvPr>
            <p:ph idx="6" type="body"/>
          </p:nvPr>
        </p:nvSpPr>
        <p:spPr>
          <a:xfrm>
            <a:off x="6070189" y="1946006"/>
            <a:ext cx="17868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5400">
                <a:solidFill>
                  <a:srgbClr val="2AE3FF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23" name="Google Shape;323;p53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24" name="Google Shape;324;p5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53"/>
          <p:cNvSpPr txBox="1"/>
          <p:nvPr>
            <p:ph idx="7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26" name="Google Shape;326;p53"/>
          <p:cNvSpPr txBox="1"/>
          <p:nvPr>
            <p:ph idx="8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3_Content 7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4"/>
          <p:cNvSpPr/>
          <p:nvPr/>
        </p:nvSpPr>
        <p:spPr>
          <a:xfrm>
            <a:off x="1212651" y="1611223"/>
            <a:ext cx="3118200" cy="1208100"/>
          </a:xfrm>
          <a:prstGeom prst="roundRect">
            <a:avLst>
              <a:gd fmla="val 4445" name="adj"/>
            </a:avLst>
          </a:prstGeom>
          <a:solidFill>
            <a:srgbClr val="2322F0">
              <a:alpha val="902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29" name="Google Shape;329;p54"/>
          <p:cNvSpPr/>
          <p:nvPr/>
        </p:nvSpPr>
        <p:spPr>
          <a:xfrm>
            <a:off x="4572000" y="1611223"/>
            <a:ext cx="3118200" cy="1208100"/>
          </a:xfrm>
          <a:prstGeom prst="roundRect">
            <a:avLst>
              <a:gd fmla="val 4445" name="adj"/>
            </a:avLst>
          </a:prstGeom>
          <a:solidFill>
            <a:srgbClr val="2322F0">
              <a:alpha val="902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30" name="Google Shape;330;p54"/>
          <p:cNvSpPr/>
          <p:nvPr/>
        </p:nvSpPr>
        <p:spPr>
          <a:xfrm>
            <a:off x="1212651" y="3010399"/>
            <a:ext cx="3118200" cy="1208100"/>
          </a:xfrm>
          <a:prstGeom prst="roundRect">
            <a:avLst>
              <a:gd fmla="val 4445" name="adj"/>
            </a:avLst>
          </a:prstGeom>
          <a:solidFill>
            <a:srgbClr val="2322F0">
              <a:alpha val="902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31" name="Google Shape;331;p54"/>
          <p:cNvSpPr/>
          <p:nvPr/>
        </p:nvSpPr>
        <p:spPr>
          <a:xfrm>
            <a:off x="4572000" y="3010399"/>
            <a:ext cx="3118200" cy="1208100"/>
          </a:xfrm>
          <a:prstGeom prst="roundRect">
            <a:avLst>
              <a:gd fmla="val 4445" name="adj"/>
            </a:avLst>
          </a:prstGeom>
          <a:solidFill>
            <a:srgbClr val="2322F0">
              <a:alpha val="902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32" name="Google Shape;332;p54"/>
          <p:cNvSpPr txBox="1"/>
          <p:nvPr/>
        </p:nvSpPr>
        <p:spPr>
          <a:xfrm>
            <a:off x="1257592" y="1611223"/>
            <a:ext cx="726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2AE3FF"/>
                </a:solidFill>
                <a:latin typeface="Funnel Sans"/>
                <a:ea typeface="Funnel Sans"/>
                <a:cs typeface="Funnel Sans"/>
                <a:sym typeface="Funnel Sans"/>
              </a:rPr>
              <a:t>01</a:t>
            </a:r>
            <a:endParaRPr b="1" i="0" sz="3000" u="none" cap="none" strike="noStrike">
              <a:solidFill>
                <a:srgbClr val="2AE3FF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33" name="Google Shape;333;p54"/>
          <p:cNvSpPr txBox="1"/>
          <p:nvPr/>
        </p:nvSpPr>
        <p:spPr>
          <a:xfrm>
            <a:off x="4616941" y="1611223"/>
            <a:ext cx="726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2AE3FF"/>
                </a:solidFill>
                <a:latin typeface="Funnel Sans"/>
                <a:ea typeface="Funnel Sans"/>
                <a:cs typeface="Funnel Sans"/>
                <a:sym typeface="Funnel Sans"/>
              </a:rPr>
              <a:t>02</a:t>
            </a:r>
            <a:endParaRPr b="1" i="0" sz="3000" u="none" cap="none" strike="noStrike">
              <a:solidFill>
                <a:srgbClr val="2AE3FF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34" name="Google Shape;334;p54"/>
          <p:cNvSpPr txBox="1"/>
          <p:nvPr/>
        </p:nvSpPr>
        <p:spPr>
          <a:xfrm>
            <a:off x="1257592" y="3010399"/>
            <a:ext cx="726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2AE3FF"/>
                </a:solidFill>
                <a:latin typeface="Funnel Sans"/>
                <a:ea typeface="Funnel Sans"/>
                <a:cs typeface="Funnel Sans"/>
                <a:sym typeface="Funnel Sans"/>
              </a:rPr>
              <a:t>03</a:t>
            </a:r>
            <a:endParaRPr b="1" i="0" sz="3000" u="none" cap="none" strike="noStrike">
              <a:solidFill>
                <a:srgbClr val="2AE3FF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35" name="Google Shape;335;p54"/>
          <p:cNvSpPr txBox="1"/>
          <p:nvPr/>
        </p:nvSpPr>
        <p:spPr>
          <a:xfrm>
            <a:off x="4616941" y="3010399"/>
            <a:ext cx="726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2AE3FF"/>
                </a:solidFill>
                <a:latin typeface="Funnel Sans"/>
                <a:ea typeface="Funnel Sans"/>
                <a:cs typeface="Funnel Sans"/>
                <a:sym typeface="Funnel Sans"/>
              </a:rPr>
              <a:t>04</a:t>
            </a:r>
            <a:endParaRPr b="1" i="0" sz="3000" u="none" cap="none" strike="noStrike">
              <a:solidFill>
                <a:srgbClr val="2AE3FF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36" name="Google Shape;336;p54"/>
          <p:cNvSpPr txBox="1"/>
          <p:nvPr>
            <p:ph idx="1" type="body"/>
          </p:nvPr>
        </p:nvSpPr>
        <p:spPr>
          <a:xfrm>
            <a:off x="2030393" y="1702764"/>
            <a:ext cx="2142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37" name="Google Shape;337;p54"/>
          <p:cNvSpPr txBox="1"/>
          <p:nvPr>
            <p:ph idx="2" type="body"/>
          </p:nvPr>
        </p:nvSpPr>
        <p:spPr>
          <a:xfrm>
            <a:off x="2030393" y="2047731"/>
            <a:ext cx="21429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38" name="Google Shape;338;p54"/>
          <p:cNvSpPr txBox="1"/>
          <p:nvPr>
            <p:ph idx="3" type="body"/>
          </p:nvPr>
        </p:nvSpPr>
        <p:spPr>
          <a:xfrm>
            <a:off x="5297468" y="1702764"/>
            <a:ext cx="2142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39" name="Google Shape;339;p54"/>
          <p:cNvSpPr txBox="1"/>
          <p:nvPr>
            <p:ph idx="4" type="body"/>
          </p:nvPr>
        </p:nvSpPr>
        <p:spPr>
          <a:xfrm>
            <a:off x="5297468" y="2047731"/>
            <a:ext cx="21429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40" name="Google Shape;340;p54"/>
          <p:cNvSpPr txBox="1"/>
          <p:nvPr>
            <p:ph idx="5" type="body"/>
          </p:nvPr>
        </p:nvSpPr>
        <p:spPr>
          <a:xfrm>
            <a:off x="2030393" y="3102939"/>
            <a:ext cx="2142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41" name="Google Shape;341;p54"/>
          <p:cNvSpPr txBox="1"/>
          <p:nvPr>
            <p:ph idx="6" type="body"/>
          </p:nvPr>
        </p:nvSpPr>
        <p:spPr>
          <a:xfrm>
            <a:off x="2030393" y="3447906"/>
            <a:ext cx="2142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42" name="Google Shape;342;p54"/>
          <p:cNvSpPr txBox="1"/>
          <p:nvPr>
            <p:ph idx="7" type="body"/>
          </p:nvPr>
        </p:nvSpPr>
        <p:spPr>
          <a:xfrm>
            <a:off x="5297468" y="3102939"/>
            <a:ext cx="2142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2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43" name="Google Shape;343;p54"/>
          <p:cNvSpPr txBox="1"/>
          <p:nvPr>
            <p:ph idx="8" type="body"/>
          </p:nvPr>
        </p:nvSpPr>
        <p:spPr>
          <a:xfrm>
            <a:off x="5297468" y="3447906"/>
            <a:ext cx="2142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sz="9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44" name="Google Shape;344;p54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45" name="Google Shape;345;p54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54"/>
          <p:cNvSpPr txBox="1"/>
          <p:nvPr>
            <p:ph idx="9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47" name="Google Shape;347;p54"/>
          <p:cNvSpPr txBox="1"/>
          <p:nvPr>
            <p:ph idx="13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4_Content 8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5"/>
          <p:cNvSpPr/>
          <p:nvPr/>
        </p:nvSpPr>
        <p:spPr>
          <a:xfrm>
            <a:off x="6801601" y="1011926"/>
            <a:ext cx="2355237" cy="4143222"/>
          </a:xfrm>
          <a:custGeom>
            <a:rect b="b" l="l" r="r" t="t"/>
            <a:pathLst>
              <a:path extrusionOk="0" h="3642393" w="2070538">
                <a:moveTo>
                  <a:pt x="8066" y="3642393"/>
                </a:moveTo>
                <a:cubicBezTo>
                  <a:pt x="5377" y="2820162"/>
                  <a:pt x="2689" y="2892769"/>
                  <a:pt x="0" y="2070538"/>
                </a:cubicBez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5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55"/>
          <p:cNvSpPr txBox="1"/>
          <p:nvPr>
            <p:ph idx="1" type="body"/>
          </p:nvPr>
        </p:nvSpPr>
        <p:spPr>
          <a:xfrm>
            <a:off x="518870" y="586168"/>
            <a:ext cx="5596200" cy="3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886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rgbClr val="2AE3FF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5_Content 9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6"/>
          <p:cNvSpPr txBox="1"/>
          <p:nvPr>
            <p:ph idx="1" type="body"/>
          </p:nvPr>
        </p:nvSpPr>
        <p:spPr>
          <a:xfrm>
            <a:off x="518870" y="586168"/>
            <a:ext cx="5596200" cy="3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886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rgbClr val="2AE3FF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54" name="Google Shape;354;p56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7"/>
          <p:cNvSpPr/>
          <p:nvPr/>
        </p:nvSpPr>
        <p:spPr>
          <a:xfrm>
            <a:off x="6801601" y="1011926"/>
            <a:ext cx="2355237" cy="4143222"/>
          </a:xfrm>
          <a:custGeom>
            <a:rect b="b" l="l" r="r" t="t"/>
            <a:pathLst>
              <a:path extrusionOk="0" h="3642393" w="2070538">
                <a:moveTo>
                  <a:pt x="8066" y="3642393"/>
                </a:moveTo>
                <a:cubicBezTo>
                  <a:pt x="5377" y="2820162"/>
                  <a:pt x="2689" y="2892769"/>
                  <a:pt x="0" y="2070538"/>
                </a:cubicBez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7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57"/>
          <p:cNvSpPr txBox="1"/>
          <p:nvPr>
            <p:ph idx="1" type="body"/>
          </p:nvPr>
        </p:nvSpPr>
        <p:spPr>
          <a:xfrm>
            <a:off x="518870" y="586168"/>
            <a:ext cx="5596200" cy="3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886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 2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8"/>
          <p:cNvSpPr txBox="1"/>
          <p:nvPr>
            <p:ph idx="1" type="body"/>
          </p:nvPr>
        </p:nvSpPr>
        <p:spPr>
          <a:xfrm>
            <a:off x="518870" y="586168"/>
            <a:ext cx="5596200" cy="3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88611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5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61" name="Google Shape;361;p58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6_Content 10">
    <p:bg>
      <p:bgPr>
        <a:gradFill>
          <a:gsLst>
            <a:gs pos="0">
              <a:srgbClr val="020A51"/>
            </a:gs>
            <a:gs pos="99000">
              <a:srgbClr val="2322F0"/>
            </a:gs>
            <a:gs pos="100000">
              <a:srgbClr val="2322F0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rectangular object with black lines&#10;&#10;Description automatically generated" id="363" name="Google Shape;363;p59"/>
          <p:cNvPicPr preferRelativeResize="0"/>
          <p:nvPr/>
        </p:nvPicPr>
        <p:blipFill rotWithShape="1">
          <a:blip r:embed="rId2">
            <a:alphaModFix/>
          </a:blip>
          <a:srcRect b="-715" l="0" r="-150" t="0"/>
          <a:stretch/>
        </p:blipFill>
        <p:spPr>
          <a:xfrm>
            <a:off x="1440179" y="1076048"/>
            <a:ext cx="6412969" cy="360873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9"/>
          <p:cNvSpPr/>
          <p:nvPr>
            <p:ph idx="2" type="pic"/>
          </p:nvPr>
        </p:nvSpPr>
        <p:spPr>
          <a:xfrm>
            <a:off x="2212808" y="1176275"/>
            <a:ext cx="4866000" cy="3251100"/>
          </a:xfrm>
          <a:prstGeom prst="roundRect">
            <a:avLst>
              <a:gd fmla="val 787" name="adj"/>
            </a:avLst>
          </a:prstGeom>
          <a:solidFill>
            <a:srgbClr val="CCDDFF"/>
          </a:solidFill>
          <a:ln>
            <a:noFill/>
          </a:ln>
        </p:spPr>
      </p:sp>
      <p:sp>
        <p:nvSpPr>
          <p:cNvPr id="365" name="Google Shape;365;p59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66" name="Google Shape;366;p59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7" name="Google Shape;367;p59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7_Content 11">
    <p:bg>
      <p:bgPr>
        <a:gradFill>
          <a:gsLst>
            <a:gs pos="0">
              <a:srgbClr val="020A51"/>
            </a:gs>
            <a:gs pos="99000">
              <a:srgbClr val="2322F0"/>
            </a:gs>
            <a:gs pos="100000">
              <a:srgbClr val="2322F0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rectangular object with black lines&#10;&#10;Description automatically generated" id="369" name="Google Shape;369;p60"/>
          <p:cNvPicPr preferRelativeResize="0"/>
          <p:nvPr/>
        </p:nvPicPr>
        <p:blipFill rotWithShape="1">
          <a:blip r:embed="rId2">
            <a:alphaModFix/>
          </a:blip>
          <a:srcRect b="-715" l="0" r="-150" t="0"/>
          <a:stretch/>
        </p:blipFill>
        <p:spPr>
          <a:xfrm>
            <a:off x="3752850" y="1479451"/>
            <a:ext cx="4862295" cy="2981604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60"/>
          <p:cNvSpPr/>
          <p:nvPr>
            <p:ph idx="2" type="pic"/>
          </p:nvPr>
        </p:nvSpPr>
        <p:spPr>
          <a:xfrm>
            <a:off x="4329713" y="1549279"/>
            <a:ext cx="3703200" cy="2695800"/>
          </a:xfrm>
          <a:prstGeom prst="roundRect">
            <a:avLst>
              <a:gd fmla="val 787" name="adj"/>
            </a:avLst>
          </a:prstGeom>
          <a:solidFill>
            <a:srgbClr val="CCDDFF"/>
          </a:solidFill>
          <a:ln>
            <a:noFill/>
          </a:ln>
        </p:spPr>
      </p:sp>
      <p:sp>
        <p:nvSpPr>
          <p:cNvPr id="371" name="Google Shape;371;p60"/>
          <p:cNvSpPr txBox="1"/>
          <p:nvPr>
            <p:ph idx="1" type="body"/>
          </p:nvPr>
        </p:nvSpPr>
        <p:spPr>
          <a:xfrm>
            <a:off x="402838" y="1657350"/>
            <a:ext cx="30834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72" name="Google Shape;372;p60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73" name="Google Shape;373;p60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4" name="Google Shape;374;p60"/>
          <p:cNvSpPr txBox="1"/>
          <p:nvPr>
            <p:ph idx="3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75" name="Google Shape;375;p60"/>
          <p:cNvSpPr txBox="1"/>
          <p:nvPr>
            <p:ph idx="4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8_Content 12">
    <p:bg>
      <p:bgPr>
        <a:gradFill>
          <a:gsLst>
            <a:gs pos="0">
              <a:srgbClr val="020A51"/>
            </a:gs>
            <a:gs pos="99000">
              <a:srgbClr val="2322F0"/>
            </a:gs>
            <a:gs pos="100000">
              <a:srgbClr val="2322F0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1"/>
          <p:cNvSpPr/>
          <p:nvPr/>
        </p:nvSpPr>
        <p:spPr>
          <a:xfrm>
            <a:off x="1600201" y="1057102"/>
            <a:ext cx="5974800" cy="3439500"/>
          </a:xfrm>
          <a:prstGeom prst="roundRect">
            <a:avLst>
              <a:gd fmla="val 2340" name="adj"/>
            </a:avLst>
          </a:prstGeom>
          <a:solidFill>
            <a:srgbClr val="CCDDFF">
              <a:alpha val="4627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78" name="Google Shape;378;p61"/>
          <p:cNvSpPr/>
          <p:nvPr>
            <p:ph idx="2" type="pic"/>
          </p:nvPr>
        </p:nvSpPr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sp>
      <p:sp>
        <p:nvSpPr>
          <p:cNvPr id="379" name="Google Shape;379;p61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80" name="Google Shape;380;p61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61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9_Content 13">
    <p:bg>
      <p:bgPr>
        <a:gradFill>
          <a:gsLst>
            <a:gs pos="0">
              <a:srgbClr val="020A51"/>
            </a:gs>
            <a:gs pos="99000">
              <a:srgbClr val="2322F0"/>
            </a:gs>
            <a:gs pos="100000">
              <a:srgbClr val="2322F0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2"/>
          <p:cNvSpPr txBox="1"/>
          <p:nvPr>
            <p:ph idx="1" type="body"/>
          </p:nvPr>
        </p:nvSpPr>
        <p:spPr>
          <a:xfrm>
            <a:off x="402838" y="1657350"/>
            <a:ext cx="3083400" cy="27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sz="1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84" name="Google Shape;384;p62"/>
          <p:cNvSpPr/>
          <p:nvPr/>
        </p:nvSpPr>
        <p:spPr>
          <a:xfrm>
            <a:off x="3852322" y="1640425"/>
            <a:ext cx="4888800" cy="2814300"/>
          </a:xfrm>
          <a:prstGeom prst="roundRect">
            <a:avLst>
              <a:gd fmla="val 2340" name="adj"/>
            </a:avLst>
          </a:prstGeom>
          <a:solidFill>
            <a:srgbClr val="CCDDFF">
              <a:alpha val="4627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85" name="Google Shape;385;p62"/>
          <p:cNvSpPr/>
          <p:nvPr>
            <p:ph idx="2" type="pic"/>
          </p:nvPr>
        </p:nvSpPr>
        <p:spPr>
          <a:xfrm>
            <a:off x="3962895" y="1733616"/>
            <a:ext cx="4659600" cy="2621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sp>
      <p:sp>
        <p:nvSpPr>
          <p:cNvPr id="386" name="Google Shape;386;p62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87" name="Google Shape;387;p62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8" name="Google Shape;388;p62"/>
          <p:cNvSpPr txBox="1"/>
          <p:nvPr>
            <p:ph idx="3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389" name="Google Shape;389;p62"/>
          <p:cNvSpPr txBox="1"/>
          <p:nvPr>
            <p:ph idx="4" type="body"/>
          </p:nvPr>
        </p:nvSpPr>
        <p:spPr>
          <a:xfrm>
            <a:off x="402838" y="942554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5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8_Content 14">
    <p:bg>
      <p:bgPr>
        <a:solidFill>
          <a:schemeClr val="dk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3"/>
          <p:cNvSpPr/>
          <p:nvPr/>
        </p:nvSpPr>
        <p:spPr>
          <a:xfrm>
            <a:off x="1600201" y="1057102"/>
            <a:ext cx="5974800" cy="3439500"/>
          </a:xfrm>
          <a:prstGeom prst="roundRect">
            <a:avLst>
              <a:gd fmla="val 2340" name="adj"/>
            </a:avLst>
          </a:prstGeom>
          <a:solidFill>
            <a:srgbClr val="CCDDFF">
              <a:alpha val="4627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92" name="Google Shape;392;p63"/>
          <p:cNvSpPr/>
          <p:nvPr>
            <p:ph idx="2" type="pic"/>
          </p:nvPr>
        </p:nvSpPr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sp>
      <p:sp>
        <p:nvSpPr>
          <p:cNvPr id="393" name="Google Shape;393;p63"/>
          <p:cNvSpPr/>
          <p:nvPr/>
        </p:nvSpPr>
        <p:spPr>
          <a:xfrm rot="10800000">
            <a:off x="1603" y="191"/>
            <a:ext cx="262954" cy="463117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394" name="Google Shape;394;p6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6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20_Blank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4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 3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5"/>
          <p:cNvSpPr txBox="1"/>
          <p:nvPr/>
        </p:nvSpPr>
        <p:spPr>
          <a:xfrm>
            <a:off x="518870" y="1686956"/>
            <a:ext cx="4137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50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rPr>
              <a:t>Thank You</a:t>
            </a:r>
            <a:endParaRPr b="0" i="0" sz="1100" u="none" cap="none" strike="noStrike">
              <a:solidFill>
                <a:srgbClr val="000000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00" name="Google Shape;400;p65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65"/>
          <p:cNvSpPr txBox="1"/>
          <p:nvPr>
            <p:ph idx="1" type="body"/>
          </p:nvPr>
        </p:nvSpPr>
        <p:spPr>
          <a:xfrm>
            <a:off x="518870" y="2613452"/>
            <a:ext cx="4633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  <p:sp>
        <p:nvSpPr>
          <p:cNvPr id="402" name="Google Shape;402;p65"/>
          <p:cNvSpPr/>
          <p:nvPr/>
        </p:nvSpPr>
        <p:spPr>
          <a:xfrm>
            <a:off x="5683472" y="-1"/>
            <a:ext cx="3457798" cy="5136945"/>
          </a:xfrm>
          <a:custGeom>
            <a:rect b="b" l="l" r="r" t="t"/>
            <a:pathLst>
              <a:path extrusionOk="0" h="3076015" w="2070538">
                <a:moveTo>
                  <a:pt x="2286" y="3076015"/>
                </a:moveTo>
                <a:cubicBezTo>
                  <a:pt x="-403" y="2253784"/>
                  <a:pt x="2689" y="2892769"/>
                  <a:pt x="0" y="2070538"/>
                </a:cubicBezTo>
                <a:lnTo>
                  <a:pt x="2070538" y="0"/>
                </a:lnTo>
              </a:path>
            </a:pathLst>
          </a:custGeom>
          <a:noFill/>
          <a:ln cap="flat" cmpd="sng" w="1905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22_Thank You B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6"/>
          <p:cNvSpPr txBox="1"/>
          <p:nvPr/>
        </p:nvSpPr>
        <p:spPr>
          <a:xfrm>
            <a:off x="518870" y="1686956"/>
            <a:ext cx="4137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" sz="50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rPr>
              <a:t>Thank You</a:t>
            </a:r>
            <a:endParaRPr b="0" i="0" sz="1100" u="none" cap="none" strike="noStrike">
              <a:solidFill>
                <a:srgbClr val="000000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05" name="Google Shape;405;p66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6" name="Google Shape;406;p66"/>
          <p:cNvSpPr txBox="1"/>
          <p:nvPr>
            <p:ph idx="1" type="body"/>
          </p:nvPr>
        </p:nvSpPr>
        <p:spPr>
          <a:xfrm>
            <a:off x="518870" y="2613452"/>
            <a:ext cx="4633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8.xml"/><Relationship Id="rId26" Type="http://schemas.openxmlformats.org/officeDocument/2006/relationships/theme" Target="../theme/theme1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63.xml"/><Relationship Id="rId2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402437" y="280228"/>
            <a:ext cx="8339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402437" y="1375603"/>
            <a:ext cx="8339100" cy="28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6"/>
          <p:cNvSpPr txBox="1"/>
          <p:nvPr/>
        </p:nvSpPr>
        <p:spPr>
          <a:xfrm>
            <a:off x="874679" y="4730170"/>
            <a:ext cx="368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rPr>
              <a:t>©2026 Appian. All rights reserved.</a:t>
            </a:r>
            <a:endParaRPr b="0" i="0" sz="700" u="none" cap="none" strike="noStrike">
              <a:solidFill>
                <a:srgbClr val="020A51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cxnSp>
        <p:nvCxnSpPr>
          <p:cNvPr id="73" name="Google Shape;73;p16"/>
          <p:cNvCxnSpPr/>
          <p:nvPr/>
        </p:nvCxnSpPr>
        <p:spPr>
          <a:xfrm>
            <a:off x="782728" y="4724399"/>
            <a:ext cx="0" cy="184800"/>
          </a:xfrm>
          <a:prstGeom prst="straightConnector1">
            <a:avLst/>
          </a:prstGeom>
          <a:noFill/>
          <a:ln cap="flat" cmpd="sng" w="1430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20A51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55758" y="4685064"/>
            <a:ext cx="685800" cy="26323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4">
          <p15:clr>
            <a:srgbClr val="A4A3A4"/>
          </p15:clr>
        </p15:guide>
        <p15:guide id="2" pos="270">
          <p15:clr>
            <a:srgbClr val="A4A3A4"/>
          </p15:clr>
        </p15:guide>
        <p15:guide id="3" orient="horz" pos="900">
          <p15:clr>
            <a:srgbClr val="F26B43"/>
          </p15:clr>
        </p15:guide>
        <p15:guide id="4" orient="horz" pos="2790">
          <p15:clr>
            <a:srgbClr val="A4A3A4"/>
          </p15:clr>
        </p15:guide>
        <p15:guide id="5" orient="horz" pos="450">
          <p15:clr>
            <a:srgbClr val="9FCC3B"/>
          </p15:clr>
        </p15:guide>
        <p15:guide id="6" orient="horz" pos="576">
          <p15:clr>
            <a:srgbClr val="9FCC3B"/>
          </p15:clr>
        </p15:guide>
        <p15:guide id="7" orient="horz" pos="702">
          <p15:clr>
            <a:srgbClr val="9FCC3B"/>
          </p15:clr>
        </p15:guide>
        <p15:guide id="8" pos="5490">
          <p15:clr>
            <a:srgbClr val="A4A3A4"/>
          </p15:clr>
        </p15:guide>
        <p15:guide id="9" orient="horz" pos="3006">
          <p15:clr>
            <a:srgbClr val="A4A3A4"/>
          </p15:clr>
        </p15:guide>
        <p15:guide id="10" orient="horz" pos="1890">
          <p15:clr>
            <a:srgbClr val="F26B43"/>
          </p15:clr>
        </p15:guide>
        <p15:guide id="11" orient="horz" pos="2538">
          <p15:clr>
            <a:srgbClr val="F26B43"/>
          </p15:clr>
        </p15:guide>
        <p15:guide id="12" pos="3024">
          <p15:clr>
            <a:srgbClr val="A4A3A4"/>
          </p15:clr>
        </p15:guide>
        <p15:guide id="13" pos="2736">
          <p15:clr>
            <a:srgbClr val="A4A3A4"/>
          </p15:clr>
        </p15:guide>
        <p15:guide id="14" orient="horz" pos="1548">
          <p15:clr>
            <a:srgbClr val="FBAE40"/>
          </p15:clr>
        </p15:guide>
        <p15:guide id="15" orient="horz" pos="1692">
          <p15:clr>
            <a:srgbClr val="FBAE40"/>
          </p15:clr>
        </p15:guide>
        <p15:guide id="16" orient="horz" pos="2646">
          <p15:clr>
            <a:srgbClr val="FDE53C"/>
          </p15:clr>
        </p15:guide>
        <p15:guide id="17" pos="3312">
          <p15:clr>
            <a:srgbClr val="A4A3A4"/>
          </p15:clr>
        </p15:guide>
        <p15:guide id="18" pos="2448">
          <p15:clr>
            <a:srgbClr val="A4A3A4"/>
          </p15:clr>
        </p15:guide>
        <p15:guide id="19" pos="2880">
          <p15:clr>
            <a:srgbClr val="A4A3A4"/>
          </p15:clr>
        </p15:guide>
        <p15:guide id="20" orient="horz" pos="1620">
          <p15:clr>
            <a:srgbClr val="A4A3A4"/>
          </p15:clr>
        </p15:guide>
        <p15:guide id="21" orient="horz" pos="176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/>
        </p:nvSpPr>
        <p:spPr>
          <a:xfrm>
            <a:off x="874679" y="4730170"/>
            <a:ext cx="368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rPr>
              <a:t>©2026 Appian. All rights reserved.</a:t>
            </a:r>
            <a:endParaRPr b="0" i="0" sz="700" u="none" cap="none" strike="noStrike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cxnSp>
        <p:nvCxnSpPr>
          <p:cNvPr id="242" name="Google Shape;242;p41"/>
          <p:cNvCxnSpPr/>
          <p:nvPr/>
        </p:nvCxnSpPr>
        <p:spPr>
          <a:xfrm>
            <a:off x="782728" y="4724399"/>
            <a:ext cx="0" cy="184800"/>
          </a:xfrm>
          <a:prstGeom prst="straightConnector1">
            <a:avLst/>
          </a:prstGeom>
          <a:noFill/>
          <a:ln cap="flat" cmpd="sng" w="14300">
            <a:solidFill>
              <a:srgbClr val="2322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41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41"/>
          <p:cNvSpPr txBox="1"/>
          <p:nvPr>
            <p:ph type="title"/>
          </p:nvPr>
        </p:nvSpPr>
        <p:spPr>
          <a:xfrm>
            <a:off x="402437" y="273844"/>
            <a:ext cx="8339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lvl="1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41"/>
          <p:cNvSpPr txBox="1"/>
          <p:nvPr>
            <p:ph idx="1" type="body"/>
          </p:nvPr>
        </p:nvSpPr>
        <p:spPr>
          <a:xfrm>
            <a:off x="402437" y="1369219"/>
            <a:ext cx="8339100" cy="28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Funnel Sans"/>
              <a:buNone/>
              <a:defRPr b="0" i="0" sz="14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unnel Sans"/>
              <a:buChar char="•"/>
              <a:defRPr b="0" i="0" sz="14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unnel Sans"/>
              <a:buChar char="•"/>
              <a:defRPr b="0" i="0" sz="14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unnel Sans"/>
              <a:buChar char="•"/>
              <a:defRPr b="0" i="0" sz="14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unnel Sans"/>
              <a:buChar char="•"/>
              <a:defRPr b="0" i="0" sz="14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Funnel Sans"/>
              <a:buNone/>
              <a:defRPr b="0" i="0" sz="11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Funnel Sans"/>
              <a:buNone/>
              <a:defRPr b="0" i="0" sz="11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Funnel Sans"/>
              <a:buNone/>
              <a:defRPr b="0" i="0" sz="11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100"/>
              <a:buFont typeface="Funnel Sans"/>
              <a:buNone/>
              <a:defRPr b="0" i="0" sz="1100" u="none" cap="none" strike="noStrike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defRPr>
            </a:lvl9pPr>
          </a:lstStyle>
          <a:p/>
        </p:txBody>
      </p:sp>
      <p:pic>
        <p:nvPicPr>
          <p:cNvPr id="246" name="Google Shape;246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55758" y="4685063"/>
            <a:ext cx="685800" cy="26323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4">
          <p15:clr>
            <a:srgbClr val="A4A3A4"/>
          </p15:clr>
        </p15:guide>
        <p15:guide id="2" pos="270">
          <p15:clr>
            <a:srgbClr val="A4A3A4"/>
          </p15:clr>
        </p15:guide>
        <p15:guide id="3" orient="horz" pos="900">
          <p15:clr>
            <a:srgbClr val="F26B43"/>
          </p15:clr>
        </p15:guide>
        <p15:guide id="4" orient="horz" pos="2790">
          <p15:clr>
            <a:srgbClr val="A4A3A4"/>
          </p15:clr>
        </p15:guide>
        <p15:guide id="5" orient="horz" pos="450">
          <p15:clr>
            <a:srgbClr val="9FCC3B"/>
          </p15:clr>
        </p15:guide>
        <p15:guide id="6" orient="horz" pos="576">
          <p15:clr>
            <a:srgbClr val="9FCC3B"/>
          </p15:clr>
        </p15:guide>
        <p15:guide id="7" orient="horz" pos="702">
          <p15:clr>
            <a:srgbClr val="9FCC3B"/>
          </p15:clr>
        </p15:guide>
        <p15:guide id="8" pos="5490">
          <p15:clr>
            <a:srgbClr val="A4A3A4"/>
          </p15:clr>
        </p15:guide>
        <p15:guide id="9" orient="horz" pos="3006">
          <p15:clr>
            <a:srgbClr val="A4A3A4"/>
          </p15:clr>
        </p15:guide>
        <p15:guide id="10" orient="horz" pos="1890">
          <p15:clr>
            <a:srgbClr val="F26B43"/>
          </p15:clr>
        </p15:guide>
        <p15:guide id="11" orient="horz" pos="2538">
          <p15:clr>
            <a:srgbClr val="F26B43"/>
          </p15:clr>
        </p15:guide>
        <p15:guide id="12" pos="3024">
          <p15:clr>
            <a:srgbClr val="A4A3A4"/>
          </p15:clr>
        </p15:guide>
        <p15:guide id="13" pos="2736">
          <p15:clr>
            <a:srgbClr val="A4A3A4"/>
          </p15:clr>
        </p15:guide>
        <p15:guide id="14" orient="horz" pos="1548">
          <p15:clr>
            <a:srgbClr val="FBAE40"/>
          </p15:clr>
        </p15:guide>
        <p15:guide id="15" orient="horz" pos="1692">
          <p15:clr>
            <a:srgbClr val="FBAE40"/>
          </p15:clr>
        </p15:guide>
        <p15:guide id="16" orient="horz" pos="2646">
          <p15:clr>
            <a:srgbClr val="FDE53C"/>
          </p15:clr>
        </p15:guide>
        <p15:guide id="17" pos="3312">
          <p15:clr>
            <a:srgbClr val="A4A3A4"/>
          </p15:clr>
        </p15:guide>
        <p15:guide id="18" pos="2448">
          <p15:clr>
            <a:srgbClr val="A4A3A4"/>
          </p15:clr>
        </p15:guide>
        <p15:guide id="19" pos="2880">
          <p15:clr>
            <a:srgbClr val="A4A3A4"/>
          </p15:clr>
        </p15:guide>
        <p15:guide id="20" orient="horz" pos="1620">
          <p15:clr>
            <a:srgbClr val="A4A3A4"/>
          </p15:clr>
        </p15:guide>
        <p15:guide id="21" orient="horz" pos="1764">
          <p15:clr>
            <a:srgbClr val="F26B43"/>
          </p15:clr>
        </p15:guide>
      </p15:sldGuideLst>
    </p:ext>
  </p:extLst>
</p:sldMaster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1.jpg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9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4.jpg"/><Relationship Id="rId5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9.jpg"/><Relationship Id="rId5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10.jpg"/><Relationship Id="rId5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11.jpg"/><Relationship Id="rId5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12.jpg"/><Relationship Id="rId5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65.jpg"/><Relationship Id="rId5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66.jpg"/><Relationship Id="rId5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67.jpg"/><Relationship Id="rId5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68.jpg"/><Relationship Id="rId5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69.jpg"/><Relationship Id="rId5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70.jpg"/><Relationship Id="rId5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71.jpg"/><Relationship Id="rId5" Type="http://schemas.openxmlformats.org/officeDocument/2006/relationships/image" Target="../media/image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72.jpg"/><Relationship Id="rId5" Type="http://schemas.openxmlformats.org/officeDocument/2006/relationships/image" Target="../media/image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73.jpg"/><Relationship Id="rId5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74.jpg"/><Relationship Id="rId5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75.jpg"/><Relationship Id="rId5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76.jpg"/><Relationship Id="rId5" Type="http://schemas.openxmlformats.org/officeDocument/2006/relationships/image" Target="../media/image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77.jpg"/><Relationship Id="rId5" Type="http://schemas.openxmlformats.org/officeDocument/2006/relationships/image" Target="../media/image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78.jpg"/><Relationship Id="rId5" Type="http://schemas.openxmlformats.org/officeDocument/2006/relationships/image" Target="../media/image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79.jpg"/><Relationship Id="rId5" Type="http://schemas.openxmlformats.org/officeDocument/2006/relationships/image" Target="../media/image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80.jpg"/><Relationship Id="rId5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81.jpg"/><Relationship Id="rId5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82.jpg"/><Relationship Id="rId5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83.jpg"/><Relationship Id="rId5" Type="http://schemas.openxmlformats.org/officeDocument/2006/relationships/image" Target="../media/image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84.jpg"/><Relationship Id="rId5" Type="http://schemas.openxmlformats.org/officeDocument/2006/relationships/image" Target="../media/image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85.jpg"/><Relationship Id="rId5" Type="http://schemas.openxmlformats.org/officeDocument/2006/relationships/image" Target="../media/image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86.jpg"/><Relationship Id="rId5" Type="http://schemas.openxmlformats.org/officeDocument/2006/relationships/image" Target="../media/image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png"/><Relationship Id="rId3" Type="http://schemas.openxmlformats.org/officeDocument/2006/relationships/image" Target="../media/image13.png"/><Relationship Id="rId4" Type="http://schemas.openxmlformats.org/officeDocument/2006/relationships/image" Target="../media/image87.jpg"/><Relationship Id="rId5" Type="http://schemas.openxmlformats.org/officeDocument/2006/relationships/image" Target="../media/image3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1" name="Google Shape;411;p67"/>
          <p:cNvSpPr txBox="1"/>
          <p:nvPr>
            <p:ph type="title"/>
          </p:nvPr>
        </p:nvSpPr>
        <p:spPr>
          <a:xfrm>
            <a:off x="763906" y="1715401"/>
            <a:ext cx="58884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Click to Add Cover Title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Max 3 Lines</a:t>
            </a:r>
            <a:endParaRPr/>
          </a:p>
        </p:txBody>
      </p:sp>
      <p:sp>
        <p:nvSpPr>
          <p:cNvPr id="412" name="Google Shape;412;p67"/>
          <p:cNvSpPr txBox="1"/>
          <p:nvPr>
            <p:ph idx="1" type="subTitle"/>
          </p:nvPr>
        </p:nvSpPr>
        <p:spPr>
          <a:xfrm>
            <a:off x="763906" y="3632906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"/>
              <a:t>Speaker Name</a:t>
            </a:r>
            <a:endParaRPr/>
          </a:p>
        </p:txBody>
      </p:sp>
      <p:sp>
        <p:nvSpPr>
          <p:cNvPr id="413" name="Google Shape;413;p67"/>
          <p:cNvSpPr txBox="1"/>
          <p:nvPr>
            <p:ph idx="2" type="body"/>
          </p:nvPr>
        </p:nvSpPr>
        <p:spPr>
          <a:xfrm>
            <a:off x="763906" y="4031843"/>
            <a:ext cx="588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Date</a:t>
            </a:r>
            <a:endParaRPr/>
          </a:p>
        </p:txBody>
      </p:sp>
      <p:pic>
        <p:nvPicPr>
          <p:cNvPr id="414" name="Google Shape;414;p67" title="GettyImages-2198003905.jpg"/>
          <p:cNvPicPr preferRelativeResize="0"/>
          <p:nvPr>
            <p:ph idx="2" type="pic"/>
          </p:nvPr>
        </p:nvPicPr>
        <p:blipFill rotWithShape="1">
          <a:blip r:embed="rId2">
            <a:alphaModFix/>
          </a:blip>
          <a:srcRect b="7807" l="0" r="0" t="7798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  <p:sp>
        <p:nvSpPr>
          <p:cNvPr id="415" name="Google Shape;415;p67"/>
          <p:cNvSpPr/>
          <p:nvPr/>
        </p:nvSpPr>
        <p:spPr>
          <a:xfrm>
            <a:off x="7219949" y="1754841"/>
            <a:ext cx="1924050" cy="3388659"/>
          </a:xfrm>
          <a:custGeom>
            <a:rect b="b" l="l" r="r" t="t"/>
            <a:pathLst>
              <a:path extrusionOk="0" h="4518212" w="2565400">
                <a:moveTo>
                  <a:pt x="0" y="2568388"/>
                </a:moveTo>
                <a:lnTo>
                  <a:pt x="2565400" y="0"/>
                </a:lnTo>
                <a:lnTo>
                  <a:pt x="2565400" y="4518212"/>
                </a:lnTo>
                <a:lnTo>
                  <a:pt x="0" y="4518212"/>
                </a:lnTo>
                <a:lnTo>
                  <a:pt x="0" y="2568388"/>
                </a:lnTo>
                <a:close/>
              </a:path>
            </a:pathLst>
          </a:custGeom>
          <a:solidFill>
            <a:srgbClr val="2322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16" name="Google Shape;41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5758" y="4685063"/>
            <a:ext cx="685800" cy="26323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67"/>
          <p:cNvSpPr txBox="1"/>
          <p:nvPr/>
        </p:nvSpPr>
        <p:spPr>
          <a:xfrm>
            <a:off x="763906" y="1601241"/>
            <a:ext cx="58884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Ubuntu"/>
              <a:buNone/>
            </a:pPr>
            <a:r>
              <a:rPr b="1" lang="en" sz="36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rPr>
              <a:t>JH&amp;P AI-Embedded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Ubuntu"/>
              <a:buNone/>
            </a:pPr>
            <a:r>
              <a:rPr b="1" lang="en" sz="36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rPr>
              <a:t>Client Onboarding</a:t>
            </a: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Ubuntu"/>
              <a:buNone/>
            </a:pPr>
            <a:r>
              <a:rPr b="1" lang="en" sz="3600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rPr>
              <a:t>Demo Takeaway</a:t>
            </a:r>
          </a:p>
        </p:txBody>
      </p:sp>
      <p:sp>
        <p:nvSpPr>
          <p:cNvPr id="418" name="Google Shape;418;p67"/>
          <p:cNvSpPr txBox="1"/>
          <p:nvPr/>
        </p:nvSpPr>
        <p:spPr>
          <a:xfrm>
            <a:off x="763906" y="3632906"/>
            <a:ext cx="5888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unnel Sans"/>
              <a:buNone/>
            </a:pPr>
            <a:r>
              <a:rPr lang="en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rPr>
              <a:t>Lucia Ribot | Solution Consultant | lucia.ribot@appian.com</a:t>
            </a:r>
            <a:endParaRPr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19" name="Google Shape;419;p67"/>
          <p:cNvSpPr txBox="1"/>
          <p:nvPr/>
        </p:nvSpPr>
        <p:spPr>
          <a:xfrm>
            <a:off x="763906" y="4198295"/>
            <a:ext cx="5888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Funnel Sans"/>
              <a:buNone/>
            </a:pPr>
            <a:r>
              <a:rPr lang="en">
                <a:solidFill>
                  <a:schemeClr val="lt2"/>
                </a:solidFill>
                <a:latin typeface="Funnel Sans"/>
                <a:ea typeface="Funnel Sans"/>
                <a:cs typeface="Funnel Sans"/>
                <a:sym typeface="Funnel Sans"/>
              </a:rPr>
              <a:t>October 2026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5" name="Google Shape;425;p68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68"/>
          <p:cNvSpPr txBox="1"/>
          <p:nvPr>
            <p:ph idx="2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James Hambro &amp; Partners | RFI requirements shown in the demo</a:t>
            </a:r>
            <a:endParaRPr/>
          </a:p>
        </p:txBody>
      </p:sp>
      <p:pic>
        <p:nvPicPr>
          <p:cNvPr id="428" name="Google Shape;428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  <p:graphicFrame>
        <p:nvGraphicFramePr>
          <p:cNvPr id="429" name="Table 428"/>
          <p:cNvGraphicFramePr>
            <a:graphicFrameLocks noGrp="1"/>
          </p:cNvGraphicFramePr>
          <p:nvPr/>
        </p:nvGraphicFramePr>
        <p:xfrm>
          <a:off x="402838" y="1020000"/>
          <a:ext cx="8338200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168"/>
                <a:gridCol w="4669392"/>
                <a:gridCol w="1667640"/>
              </a:tblGrid>
              <a:tr h="30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RFI area</a:t>
                      </a:r>
                    </a:p>
                  </a:txBody>
                  <a:tcPr marL="60000" marR="60000" marT="30000" marB="30000">
                    <a:solidFill>
                      <a:srgbClr val="2429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What the demo showed</a:t>
                      </a:r>
                    </a:p>
                  </a:txBody>
                  <a:tcPr marL="60000" marR="60000" marT="30000" marB="30000">
                    <a:solidFill>
                      <a:srgbClr val="2429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60000" marR="60000" marT="30000" marB="30000">
                    <a:solidFill>
                      <a:srgbClr val="24294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2437"/>
                          </a:solidFill>
                        </a:rPr>
                        <a:t>4.1 Client experience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Branded client portal replacing the 44-page form: six tailored sections, save-and-resume, validation and dynamic questions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JH&amp;P Portal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2437"/>
                          </a:solidFill>
                        </a:rPr>
                        <a:t>4.2 Integration and data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Pre-population from Xplan, Companies House lookup, write-back to Pulse, Symphony and Xplan on approval, sync status per system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Portal, Onboarding, Portfolio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2437"/>
                          </a:solidFill>
                        </a:rPr>
                        <a:t>4.3 Workflow and configurability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Guidance, tooltips, options, thresholds and risk weights changed by the business with no release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Onboarding · Settings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2437"/>
                          </a:solidFill>
                        </a:rPr>
                        <a:t>4.4 Operational efficiency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Live queue with SLA warnings, items that need a person, guarded send for approval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Onboarding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2437"/>
                          </a:solidFill>
                        </a:rPr>
                        <a:t>4.5 KYC/AML and access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Screening provider check, AI recommendation, human decision, four-eyes approval, masked identifiers by role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Onboarding · Portfolio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2437"/>
                          </a:solidFill>
                        </a:rPr>
                        <a:t>4.6 Document processing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Appian DocCenter extraction and reconciliation; AI-raised mismatch against the declared value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Onboarding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2437"/>
                          </a:solidFill>
                        </a:rPr>
                        <a:t>4.7 AI and agents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Client onboarding assistant, case assistant and screening agent (Appian AI agents), AI-drafted case summary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All three sites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2437"/>
                          </a:solidFill>
                        </a:rPr>
                        <a:t>4.8 Reporting and MI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Live onboarding performance, back-office sync health and where AI is used and checked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Onboarding · Reports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2437"/>
                          </a:solidFill>
                        </a:rPr>
                        <a:t>4.9 Multi-party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Joint applicant, company directors and advisers, each completing their own part in parallel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Portal, Onboarding</a:t>
                      </a:r>
                    </a:p>
                  </a:txBody>
                  <a:tcPr marL="60000" marR="60000" marT="30000" marB="3000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F2437"/>
                          </a:solidFill>
                        </a:rPr>
                        <a:t>4.10 Communication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Secure messages, handoff from the assistant to a person, client told when accounts open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F2437"/>
                          </a:solidFill>
                        </a:rPr>
                        <a:t>Portal, Onboarding</a:t>
                      </a:r>
                    </a:p>
                  </a:txBody>
                  <a:tcPr marL="60000" marR="60000" marT="30000" marB="30000">
                    <a:solidFill>
                      <a:srgbClr val="F2E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69"/>
          <p:cNvSpPr txBox="1"/>
          <p:nvPr>
            <p:ph idx="1" type="body"/>
          </p:nvPr>
        </p:nvSpPr>
        <p:spPr>
          <a:xfrm>
            <a:off x="642425" y="2311100"/>
            <a:ext cx="64008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4800">
                <a:solidFill>
                  <a:schemeClr val="dk1"/>
                </a:solidFill>
              </a:rPr>
              <a:t>01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>
                <a:solidFill>
                  <a:schemeClr val="dk1"/>
                </a:solidFill>
              </a:rPr>
              <a:t>Client Application Journey</a:t>
            </a:r>
            <a:br>
              <a:rPr lang="en">
                <a:solidFill>
                  <a:srgbClr val="FFFFFF"/>
                </a:solidFill>
              </a:rPr>
            </a:br>
            <a:r>
              <a:rPr b="0" lang="en" sz="1800">
                <a:solidFill>
                  <a:srgbClr val="FFFFFF"/>
                </a:solidFill>
              </a:rPr>
              <a:t>Rebecca Hartley-Vance completes her application on the JH&amp;P Portal: tailored sections, validation, a joint applicant and the family company, source of wealth, the in-line AI assistant, evidence upload and signing.</a:t>
            </a:r>
            <a:r>
              <a:rPr b="0" lang="en" sz="1800">
                <a:solidFill>
                  <a:srgbClr val="FFFFFF"/>
                </a:solidFill>
              </a:rPr>
              <a:t/>
            </a:r>
            <a:r>
              <a:rPr b="0" lang="en" sz="1800">
                <a:solidFill>
                  <a:srgbClr val="FFFFFF"/>
                </a:solidFill>
              </a:rPr>
              <a:t/>
            </a:r>
            <a:endParaRPr b="0" sz="1800"/>
          </a:p>
        </p:txBody>
      </p:sp>
      <p:sp>
        <p:nvSpPr>
          <p:cNvPr id="434" name="Google Shape;434;p69"/>
          <p:cNvSpPr txBox="1"/>
          <p:nvPr/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800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‹#›</a:t>
            </a:fld>
            <a:endParaRPr b="1" sz="800">
              <a:solidFill>
                <a:srgbClr val="FFFFFF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87625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Client portal home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Progress, team and what happens next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106250" y="25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176250" y="26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 client, I want to see where my application stands and who is looking after me, so that I never have to chase JH&amp;P for an update.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52000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Validated as she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About you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7334600" y="25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7404600" y="26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 client, I want mistakes caught while I type, so that my application is not sent back to me later.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52000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Joint applicant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Parties complete their own part in parallel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7334600" y="25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7404600" y="26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 client opening a joint account, I want Edward to complete his own section on his own link, so that I am not held up while he is travelling.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52000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family company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Checked against Companies House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7334600" y="25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7404600" y="26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 client service executive, I want company details confirmed against Companies House, so that nobody rekeys them.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Accounts and objectives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Pre-filled from the first meeting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87625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Onboarding assistant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Appian AI agent, scoped to the section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106250" y="22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176250" y="23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 client, I want to ask what a question means without leaving the form, so that I can finish in one sitting. The assistant answers only from JH&amp;P guidance, cannot give advice and hands off to a person.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87625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Evidence upload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Completion statement received and sent to DocCenter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106250" y="25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176250" y="26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 client, I want to upload one document and carry on, so that I am not waiting for it to be checked.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Identity checks and signatures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Three agreements signed online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69"/>
          <p:cNvSpPr txBox="1"/>
          <p:nvPr>
            <p:ph idx="1" type="body"/>
          </p:nvPr>
        </p:nvSpPr>
        <p:spPr>
          <a:xfrm>
            <a:off x="642425" y="2311100"/>
            <a:ext cx="64008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4800">
                <a:solidFill>
                  <a:schemeClr val="dk1"/>
                </a:solidFill>
              </a:rPr>
              <a:t>02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>
                <a:solidFill>
                  <a:schemeClr val="dk1"/>
                </a:solidFill>
              </a:rPr>
              <a:t>The Onboarding Team</a:t>
            </a:r>
            <a:br>
              <a:rPr lang="en">
                <a:solidFill>
                  <a:srgbClr val="FFFFFF"/>
                </a:solidFill>
              </a:rPr>
            </a:br>
            <a:r>
              <a:rPr b="0" lang="en" sz="1800">
                <a:solidFill>
                  <a:srgbClr val="FFFFFF"/>
                </a:solidFill>
              </a:rPr>
              <a:t>The client service executive picks up the submission: the live queue, plain-English questions to the case assistant, and the full case in one place.</a:t>
            </a:r>
            <a:r>
              <a:rPr b="0" lang="en" sz="1800">
                <a:solidFill>
                  <a:srgbClr val="FFFFFF"/>
                </a:solidFill>
              </a:rPr>
              <a:t/>
            </a:r>
            <a:r>
              <a:rPr b="0" lang="en" sz="1800">
                <a:solidFill>
                  <a:srgbClr val="FFFFFF"/>
                </a:solidFill>
              </a:rPr>
              <a:t/>
            </a:r>
            <a:endParaRPr b="0" sz="1800"/>
          </a:p>
        </p:txBody>
      </p:sp>
      <p:sp>
        <p:nvSpPr>
          <p:cNvPr id="434" name="Google Shape;434;p69"/>
          <p:cNvSpPr txBox="1"/>
          <p:nvPr/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800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‹#›</a:t>
            </a:fld>
            <a:endParaRPr b="1" sz="800">
              <a:solidFill>
                <a:srgbClr val="FFFFFF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52000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Onboarding queue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New submissions, SLA warnings and what needs a person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7334600" y="25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7404600" y="26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 client service executive, I want my day laid out for me, so that late cases and new submissions are never missed.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87625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Case assistant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Plain-English questions about live cases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106250" y="23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176250" y="24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 client service executive, I want to ask which cases are late and what is outstanding, so that I do not have to build a report to find out.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Application tab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Everything the client gave, read-only, beside the evidence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Case overview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Outstanding items with owner, due date and action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Parties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Multi-party onboarding with screening and invite status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69"/>
          <p:cNvSpPr txBox="1"/>
          <p:nvPr>
            <p:ph idx="1" type="body"/>
          </p:nvPr>
        </p:nvSpPr>
        <p:spPr>
          <a:xfrm>
            <a:off x="642425" y="2311100"/>
            <a:ext cx="64008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4800">
                <a:solidFill>
                  <a:schemeClr val="dk1"/>
                </a:solidFill>
              </a:rPr>
              <a:t>03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>
                <a:solidFill>
                  <a:schemeClr val="dk1"/>
                </a:solidFill>
              </a:rPr>
              <a:t>KYC and Screening</a:t>
            </a:r>
            <a:br>
              <a:rPr lang="en">
                <a:solidFill>
                  <a:srgbClr val="FFFFFF"/>
                </a:solidFill>
              </a:rPr>
            </a:br>
            <a:r>
              <a:rPr b="0" lang="en" sz="1800">
                <a:solidFill>
                  <a:srgbClr val="FFFFFF"/>
                </a:solidFill>
              </a:rPr>
              <a:t>A possible PEP match on a director: provider check, the screening agent's recommendation and a human decision with four-eyes approval.</a:t>
            </a:r>
            <a:r>
              <a:rPr b="0" lang="en" sz="1800">
                <a:solidFill>
                  <a:srgbClr val="FFFFFF"/>
                </a:solidFill>
              </a:rPr>
              <a:t/>
            </a:r>
            <a:r>
              <a:rPr b="0" lang="en" sz="1800">
                <a:solidFill>
                  <a:srgbClr val="FFFFFF"/>
                </a:solidFill>
              </a:rPr>
              <a:t/>
            </a:r>
            <a:endParaRPr b="0" sz="1800"/>
          </a:p>
        </p:txBody>
      </p:sp>
      <p:sp>
        <p:nvSpPr>
          <p:cNvPr id="434" name="Google Shape;434;p69"/>
          <p:cNvSpPr txBox="1"/>
          <p:nvPr/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800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‹#›</a:t>
            </a:fld>
            <a:endParaRPr b="1" sz="800">
              <a:solidFill>
                <a:srgbClr val="FFFFFF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Identifier comparison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What we hold against the provider record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52000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Screening agent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The agent advises; a person decides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7334600" y="25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7404600" y="26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 compliance-minded CSE, I want the AI to compare every identifier and explain its recommendation, so that I decide faster without handing the decision to a machine.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Match confirmation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Decision, reasoning and confirmation, all required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52000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Second approval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Head of Compliance emailed for four-eyes approval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7334600" y="25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7404600" y="26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Head of Compliance, I want every screening decision countersigned by a second person, so that segregation of duties is enforced, not assumed.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69"/>
          <p:cNvSpPr txBox="1"/>
          <p:nvPr>
            <p:ph idx="1" type="body"/>
          </p:nvPr>
        </p:nvSpPr>
        <p:spPr>
          <a:xfrm>
            <a:off x="642425" y="2311100"/>
            <a:ext cx="64008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4800">
                <a:solidFill>
                  <a:schemeClr val="dk1"/>
                </a:solidFill>
              </a:rPr>
              <a:t>04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>
                <a:solidFill>
                  <a:schemeClr val="dk1"/>
                </a:solidFill>
              </a:rPr>
              <a:t>Document Intelligence</a:t>
            </a:r>
            <a:br>
              <a:rPr lang="en">
                <a:solidFill>
                  <a:srgbClr val="FFFFFF"/>
                </a:solidFill>
              </a:rPr>
            </a:br>
            <a:r>
              <a:rPr b="0" lang="en" sz="1800">
                <a:solidFill>
                  <a:srgbClr val="FFFFFF"/>
                </a:solidFill>
              </a:rPr>
              <a:t>Appian DocCenter reads the completion statement, the team reconciles the fields, and a mismatch with the declared value is raised automatically.</a:t>
            </a:r>
            <a:r>
              <a:rPr b="0" lang="en" sz="1800">
                <a:solidFill>
                  <a:srgbClr val="FFFFFF"/>
                </a:solidFill>
              </a:rPr>
              <a:t/>
            </a:r>
            <a:r>
              <a:rPr b="0" lang="en" sz="1800">
                <a:solidFill>
                  <a:srgbClr val="FFFFFF"/>
                </a:solidFill>
              </a:rPr>
              <a:t/>
            </a:r>
            <a:endParaRPr b="0" sz="1800"/>
          </a:p>
        </p:txBody>
      </p:sp>
      <p:sp>
        <p:nvSpPr>
          <p:cNvPr id="434" name="Google Shape;434;p69"/>
          <p:cNvSpPr txBox="1"/>
          <p:nvPr/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800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‹#›</a:t>
            </a:fld>
            <a:endParaRPr b="1" sz="800">
              <a:solidFill>
                <a:srgbClr val="FFFFFF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52000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DocCenter reconcile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32 fields extracted, side by side with the document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7334600" y="25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7404600" y="26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 client service executive, I want extracted values beside the document with their confidence, so that I check rather than retype.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Mismatch raised by AI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Net proceeds 6.3% below the declared value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Review the evidence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Document beside the decision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69"/>
          <p:cNvSpPr txBox="1"/>
          <p:nvPr>
            <p:ph idx="1" type="body"/>
          </p:nvPr>
        </p:nvSpPr>
        <p:spPr>
          <a:xfrm>
            <a:off x="642425" y="2311100"/>
            <a:ext cx="64008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4800">
                <a:solidFill>
                  <a:schemeClr val="dk1"/>
                </a:solidFill>
              </a:rPr>
              <a:t>05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>
                <a:solidFill>
                  <a:schemeClr val="dk1"/>
                </a:solidFill>
              </a:rPr>
              <a:t>Approval and Accounts Opened</a:t>
            </a:r>
            <a:br>
              <a:rPr lang="en">
                <a:solidFill>
                  <a:srgbClr val="FFFFFF"/>
                </a:solidFill>
              </a:rPr>
            </a:br>
            <a:r>
              <a:rPr b="0" lang="en" sz="1800">
                <a:solidFill>
                  <a:srgbClr val="FFFFFF"/>
                </a:solidFill>
              </a:rPr>
              <a:t>The case goes to James Horniman on the JH&amp;P Portfolio site. One approval writes back to Pulse, Symphony and Xplan and tells the client.</a:t>
            </a:r>
            <a:r>
              <a:rPr b="0" lang="en" sz="1800">
                <a:solidFill>
                  <a:srgbClr val="FFFFFF"/>
                </a:solidFill>
              </a:rPr>
              <a:t/>
            </a:r>
            <a:r>
              <a:rPr b="0" lang="en" sz="1800">
                <a:solidFill>
                  <a:srgbClr val="FFFFFF"/>
                </a:solidFill>
              </a:rPr>
              <a:t/>
            </a:r>
            <a:endParaRPr b="0" sz="1800"/>
          </a:p>
        </p:txBody>
      </p:sp>
      <p:sp>
        <p:nvSpPr>
          <p:cNvPr id="434" name="Google Shape;434;p69"/>
          <p:cNvSpPr txBox="1"/>
          <p:nvPr/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800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‹#›</a:t>
            </a:fld>
            <a:endParaRPr b="1" sz="800">
              <a:solidFill>
                <a:srgbClr val="FFFFFF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Ready for approval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Guarded send, AI-drafted case summary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Audit trail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People, services and AI, with reasoning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87625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Portfolio manager approval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JH&amp;P Portfolio site: summary, masked identifiers and computed checks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106250" y="23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176250" y="24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 portfolio manager, I want the case summarised and every check worked out for me, so that I can approve with confidence in minutes.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Approved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Accounts created in Pulse, portfolio in Symphony, Xplan updated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Client informed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Rebecca sees her accounts open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3" name="Google Shape;433;p69"/>
          <p:cNvSpPr txBox="1"/>
          <p:nvPr>
            <p:ph idx="1" type="body"/>
          </p:nvPr>
        </p:nvSpPr>
        <p:spPr>
          <a:xfrm>
            <a:off x="642425" y="2311100"/>
            <a:ext cx="6400800" cy="170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4800">
                <a:solidFill>
                  <a:schemeClr val="dk1"/>
                </a:solidFill>
              </a:rPr>
              <a:t>06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444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>
                <a:solidFill>
                  <a:schemeClr val="dk1"/>
                </a:solidFill>
              </a:rPr>
              <a:t>Reporting and Configuration</a:t>
            </a:r>
            <a:br>
              <a:rPr lang="en">
                <a:solidFill>
                  <a:srgbClr val="FFFFFF"/>
                </a:solidFill>
              </a:rPr>
            </a:br>
            <a:r>
              <a:rPr b="0" lang="en" sz="1800">
                <a:solidFill>
                  <a:srgbClr val="FFFFFF"/>
                </a:solidFill>
              </a:rPr>
              <a:t>Live onboarding MI, and the settings the business changes itself with no release.</a:t>
            </a:r>
            <a:r>
              <a:rPr b="0" lang="en" sz="1800">
                <a:solidFill>
                  <a:srgbClr val="FFFFFF"/>
                </a:solidFill>
              </a:rPr>
              <a:t/>
            </a:r>
            <a:r>
              <a:rPr b="0" lang="en" sz="1800">
                <a:solidFill>
                  <a:srgbClr val="FFFFFF"/>
                </a:solidFill>
              </a:rPr>
              <a:t/>
            </a:r>
            <a:endParaRPr b="0" sz="1800"/>
          </a:p>
        </p:txBody>
      </p:sp>
      <p:sp>
        <p:nvSpPr>
          <p:cNvPr id="434" name="Google Shape;434;p69"/>
          <p:cNvSpPr txBox="1"/>
          <p:nvPr/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800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‹#›</a:t>
            </a:fld>
            <a:endParaRPr b="1" sz="800">
              <a:solidFill>
                <a:srgbClr val="FFFFFF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Onboarding performance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Computed live from the case records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740368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Sync health and AI use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Where work waits and where AI is used and checked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63" name="Google Shape;463;p73" title="Screenshot 2026-09-09 at 10.18.44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tretch/>
        </p:blipFill>
        <p:spPr>
          <a:xfrm>
            <a:off x="1520000" y="1175236"/>
            <a:ext cx="5694600" cy="3203100"/>
          </a:xfrm>
          <a:prstGeom prst="roundRect">
            <a:avLst>
              <a:gd fmla="val 2214" name="adj"/>
            </a:avLst>
          </a:prstGeom>
          <a:solidFill>
            <a:srgbClr val="CCDDFF"/>
          </a:solidFill>
          <a:ln>
            <a:noFill/>
          </a:ln>
        </p:spPr>
      </p:pic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 txBox="1"/>
          <p:nvPr>
            <p:ph idx="1" type="body"/>
          </p:nvPr>
        </p:nvSpPr>
        <p:spPr>
          <a:xfrm>
            <a:off x="402838" y="551818"/>
            <a:ext cx="8338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Journey settings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Changed by the business, with no release</a:t>
            </a:r>
            <a:r>
              <a:rPr lang="en" sz="1200"/>
              <a:t/>
            </a:r>
            <a:r>
              <a:rPr lang="en" sz="1200"/>
              <a:t/>
            </a:r>
            <a:r>
              <a:rPr lang="en" sz="1200"/>
              <a:t/>
            </a:r>
            <a:endParaRPr sz="1200"/>
          </a:p>
        </p:txBody>
      </p:sp>
      <p:sp>
        <p:nvSpPr>
          <p:cNvPr id="466" name="Google Shape;466;p73"/>
          <p:cNvSpPr/>
          <p:nvPr/>
        </p:nvSpPr>
        <p:spPr>
          <a:xfrm>
            <a:off x="7334600" y="2500000"/>
            <a:ext cx="1650000" cy="150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unnel Sans"/>
              <a:ea typeface="Funnel Sans"/>
              <a:cs typeface="Funnel Sans"/>
              <a:sym typeface="Funnel Sans"/>
            </a:endParaRPr>
          </a:p>
        </p:txBody>
      </p:sp>
      <p:sp>
        <p:nvSpPr>
          <p:cNvPr id="467" name="Google Shape;467;p73"/>
          <p:cNvSpPr txBox="1"/>
          <p:nvPr/>
        </p:nvSpPr>
        <p:spPr>
          <a:xfrm>
            <a:off x="7404600" y="2600000"/>
            <a:ext cx="1510000" cy="1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" sz="1000">
                <a:solidFill>
                  <a:srgbClr val="1F2437"/>
                </a:solidFill>
                <a:latin typeface="Arial"/>
                <a:ea typeface="Georgia"/>
                <a:cs typeface="Georgia"/>
                <a:sym typeface="Georgia"/>
              </a:rPr>
              <a:t>As an onboarding lead, I want to change guidance, options and thresholds myself, so that the journey keeps up with the business without a project.</a:t>
            </a:r>
            <a:endParaRPr sz="700">
              <a:solidFill>
                <a:schemeClr val="lt2"/>
              </a:solidFill>
              <a:latin typeface="Funnel Sans"/>
              <a:ea typeface="Funnel Sans"/>
              <a:cs typeface="Funnel Sans"/>
              <a:sym typeface="Funnel Sans"/>
            </a:endParaRPr>
          </a:p>
        </p:txBody>
      </p:sp>
      <p:pic>
        <p:nvPicPr>
          <p:cNvPr id="468" name="Google Shape;46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0400" y="213650"/>
            <a:ext cx="401150" cy="401150"/>
          </a:xfrm>
          <a:prstGeom prst="rect">
            <a:avLst/>
          </a:prstGeom>
          <a:gradFill>
            <a:gsLst>
              <a:gs pos="0">
                <a:srgbClr val="CCDDFF">
                  <a:alpha val="45882"/>
                </a:srgbClr>
              </a:gs>
              <a:gs pos="100000">
                <a:srgbClr val="CCDDFF"/>
              </a:gs>
            </a:gsLst>
            <a:lin ang="0" scaled="0"/>
          </a:gradFill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4" name="Google Shape;944;p126"/>
          <p:cNvSpPr txBox="1"/>
          <p:nvPr>
            <p:ph idx="12" type="sldNum"/>
          </p:nvPr>
        </p:nvSpPr>
        <p:spPr>
          <a:xfrm>
            <a:off x="402437" y="4746695"/>
            <a:ext cx="3804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ppian - Light Mode">
  <a:themeElements>
    <a:clrScheme name="Appian 2025 Theme Colors">
      <a:dk1>
        <a:srgbClr val="020A51"/>
      </a:dk1>
      <a:lt1>
        <a:srgbClr val="4F5C75"/>
      </a:lt1>
      <a:dk2>
        <a:srgbClr val="0059FF"/>
      </a:dk2>
      <a:lt2>
        <a:srgbClr val="FFFFFF"/>
      </a:lt2>
      <a:accent1>
        <a:srgbClr val="2BE2FF"/>
      </a:accent1>
      <a:accent2>
        <a:srgbClr val="22E8BE"/>
      </a:accent2>
      <a:accent3>
        <a:srgbClr val="9E38F9"/>
      </a:accent3>
      <a:accent4>
        <a:srgbClr val="FCB858"/>
      </a:accent4>
      <a:accent5>
        <a:srgbClr val="FF7F38"/>
      </a:accent5>
      <a:accent6>
        <a:srgbClr val="B3C3DA"/>
      </a:accent6>
      <a:hlink>
        <a:srgbClr val="0059FF"/>
      </a:hlink>
      <a:folHlink>
        <a:srgbClr val="02095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ppian - Dark Mode">
  <a:themeElements>
    <a:clrScheme name="Appian 2025 Theme Colors">
      <a:dk1>
        <a:srgbClr val="020A51"/>
      </a:dk1>
      <a:lt1>
        <a:srgbClr val="4F5C75"/>
      </a:lt1>
      <a:dk2>
        <a:srgbClr val="0059FF"/>
      </a:dk2>
      <a:lt2>
        <a:srgbClr val="FFFFFF"/>
      </a:lt2>
      <a:accent1>
        <a:srgbClr val="2BE2FF"/>
      </a:accent1>
      <a:accent2>
        <a:srgbClr val="22E8BE"/>
      </a:accent2>
      <a:accent3>
        <a:srgbClr val="9E38F9"/>
      </a:accent3>
      <a:accent4>
        <a:srgbClr val="FCB858"/>
      </a:accent4>
      <a:accent5>
        <a:srgbClr val="FF7F38"/>
      </a:accent5>
      <a:accent6>
        <a:srgbClr val="B3C3DA"/>
      </a:accent6>
      <a:hlink>
        <a:srgbClr val="0059FF"/>
      </a:hlink>
      <a:folHlink>
        <a:srgbClr val="02095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